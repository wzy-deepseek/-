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0-2.svg" ContentType="image/svg+xml"/>
  <Override PartName="/ppt/media/image-10-3.svg" ContentType="image/svg+xml"/>
  <Override PartName="/ppt/media/image-10-4.svg" ContentType="image/svg+xml"/>
  <Override PartName="/ppt/media/image-10-5.svg" ContentType="image/svg+xml"/>
  <Override PartName="/ppt/media/image-2-10.svg" ContentType="image/svg+xml"/>
  <Override PartName="/ppt/media/image-2-11.svg" ContentType="image/svg+xml"/>
  <Override PartName="/ppt/media/image-2-3.svg" ContentType="image/svg+xml"/>
  <Override PartName="/ppt/media/image-2-5.svg" ContentType="image/svg+xml"/>
  <Override PartName="/ppt/media/image-2-7.svg" ContentType="image/svg+xml"/>
  <Override PartName="/ppt/media/image-2-9.svg" ContentType="image/svg+xml"/>
  <Override PartName="/ppt/media/image-3-11.svg" ContentType="image/svg+xml"/>
  <Override PartName="/ppt/media/image-3-13.svg" ContentType="image/svg+xml"/>
  <Override PartName="/ppt/media/image-3-15.svg" ContentType="image/svg+xml"/>
  <Override PartName="/ppt/media/image-3-17.svg" ContentType="image/svg+xml"/>
  <Override PartName="/ppt/media/image-3-19.svg" ContentType="image/svg+xml"/>
  <Override PartName="/ppt/media/image-3-21.svg" ContentType="image/svg+xml"/>
  <Override PartName="/ppt/media/image-3-22.svg" ContentType="image/svg+xml"/>
  <Override PartName="/ppt/media/image-3-23.svg" ContentType="image/svg+xml"/>
  <Override PartName="/ppt/media/image-3-24.svg" ContentType="image/svg+xml"/>
  <Override PartName="/ppt/media/image-3-25.svg" ContentType="image/svg+xml"/>
  <Override PartName="/ppt/media/image-3-3.svg" ContentType="image/svg+xml"/>
  <Override PartName="/ppt/media/image-3-5.svg" ContentType="image/svg+xml"/>
  <Override PartName="/ppt/media/image-3-7.svg" ContentType="image/svg+xml"/>
  <Override PartName="/ppt/media/image-3-9.svg" ContentType="image/svg+xml"/>
  <Override PartName="/ppt/media/image-5-10.svg" ContentType="image/svg+xml"/>
  <Override PartName="/ppt/media/image-5-12.svg" ContentType="image/svg+xml"/>
  <Override PartName="/ppt/media/image-5-13.svg" ContentType="image/svg+xml"/>
  <Override PartName="/ppt/media/image-5-14.svg" ContentType="image/svg+xml"/>
  <Override PartName="/ppt/media/image-5-15.svg" ContentType="image/svg+xml"/>
  <Override PartName="/ppt/media/image-5-16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7-10.svg" ContentType="image/svg+xml"/>
  <Override PartName="/ppt/media/image-7-11.svg" ContentType="image/svg+xml"/>
  <Override PartName="/ppt/media/image-7-12.svg" ContentType="image/svg+xml"/>
  <Override PartName="/ppt/media/image-7-8.svg" ContentType="image/svg+xml"/>
  <Override PartName="/ppt/media/image-7-9.svg" ContentType="image/svg+xml"/>
  <Override PartName="/ppt/media/image-8-10.svg" ContentType="image/svg+xml"/>
  <Override PartName="/ppt/media/image-8-11.svg" ContentType="image/svg+xml"/>
  <Override PartName="/ppt/media/image-8-5.svg" ContentType="image/svg+xml"/>
  <Override PartName="/ppt/media/image-8-6.svg" ContentType="image/svg+xml"/>
  <Override PartName="/ppt/media/image-8-7.svg" ContentType="image/svg+xml"/>
  <Override PartName="/ppt/media/image-8-8.svg" ContentType="image/svg+xml"/>
  <Override PartName="/ppt/media/image-8-9.svg" ContentType="image/svg+xml"/>
  <Override PartName="/ppt/media/image-9-11.svg" ContentType="image/svg+xml"/>
  <Override PartName="/ppt/media/image-9-3.svg" ContentType="image/svg+xml"/>
  <Override PartName="/ppt/media/image-9-5.svg" ContentType="image/svg+xml"/>
  <Override PartName="/ppt/media/image-9-7.svg" ContentType="image/svg+xml"/>
  <Override PartName="/ppt/media/image-9-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"/>
      <p:regular r:id="rId201315"/>
    </p:embeddedFont>
    <p:embeddedFont>
      <p:font typeface="Barlow Bold"/>
      <p:regular r:id="rId201316"/>
    </p:embeddedFont>
    <p:embeddedFont>
      <p:font typeface="Barlow Black"/>
      <p:regular r:id="rId201317"/>
    </p:embeddedFont>
    <p:embeddedFont>
      <p:font typeface="Spline Sans SemiBold"/>
      <p:regular r:id="rId201318"/>
    </p:embeddedFont>
    <p:embeddedFont>
      <p:font typeface="Spline Sans Bold"/>
      <p:regular r:id="rId201319"/>
    </p:embeddedFont>
    <p:embeddedFont>
      <p:font typeface="Spline Sans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-1002-1.jpeg"/><Relationship Id="rId4" Type="http://schemas.openxmlformats.org/officeDocument/2006/relationships/image" Target="../media/image-1002-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r:id="rId4" id="2147483651"/>
    <p:sldLayoutId r:id="rId5" id="2147483652"/>
    <p:sldLayoutId r:id="rId6" id="2147483653"/>
    <p:sldLayoutId r:id="rId7" id="2147483654"/>
    <p:sldLayoutId r:id="rId8" id="2147483655"/>
    <p:sldLayoutId r:id="rId9" id="2147483656"/>
    <p:sldLayoutId r:id="rId10" id="2147483657"/>
    <p:sldLayoutId r:id="rId11" id="2147483658"/>
    <p:sldLayoutId r:id="rId12" id="2147483659"/>
    <p:sldLayoutId r:id="rId13" id="214748366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jpe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image" Target="../media/image-3-12.png"/><Relationship Id="rId13" Type="http://schemas.openxmlformats.org/officeDocument/2006/relationships/image" Target="../media/image-3-13.svg"/><Relationship Id="rId14" Type="http://schemas.openxmlformats.org/officeDocument/2006/relationships/image" Target="../media/image-3-14.png"/><Relationship Id="rId15" Type="http://schemas.openxmlformats.org/officeDocument/2006/relationships/image" Target="../media/image-3-15.svg"/><Relationship Id="rId16" Type="http://schemas.openxmlformats.org/officeDocument/2006/relationships/image" Target="../media/image-3-16.png"/><Relationship Id="rId17" Type="http://schemas.openxmlformats.org/officeDocument/2006/relationships/image" Target="../media/image-3-17.svg"/><Relationship Id="rId18" Type="http://schemas.openxmlformats.org/officeDocument/2006/relationships/image" Target="../media/image-3-18.png"/><Relationship Id="rId19" Type="http://schemas.openxmlformats.org/officeDocument/2006/relationships/image" Target="../media/image-3-19.svg"/><Relationship Id="rId20" Type="http://schemas.openxmlformats.org/officeDocument/2006/relationships/image" Target="../media/image-3-20.png"/><Relationship Id="rId21" Type="http://schemas.openxmlformats.org/officeDocument/2006/relationships/image" Target="../media/image-3-21.svg"/><Relationship Id="rId22" Type="http://schemas.openxmlformats.org/officeDocument/2006/relationships/slideLayout" Target="../slideLayouts/slideLayout2.xml"/><Relationship Id="rId2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10.png"/><Relationship Id="rId11" Type="http://schemas.openxmlformats.org/officeDocument/2006/relationships/image" Target="../media/image-9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-2-9.svg"/><Relationship Id="rId5" Type="http://schemas.openxmlformats.org/officeDocument/2006/relationships/image" Target="../media/image5.png"/><Relationship Id="rId6" Type="http://schemas.openxmlformats.org/officeDocument/2006/relationships/image" Target="../media/image-2-10.svg"/><Relationship Id="rId7" Type="http://schemas.openxmlformats.org/officeDocument/2006/relationships/image" Target="../media/image6.png"/><Relationship Id="rId8" Type="http://schemas.openxmlformats.org/officeDocument/2006/relationships/image" Target="../media/image-2-11.svg"/><Relationship Id="rId9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-3-22.svg"/><Relationship Id="rId5" Type="http://schemas.openxmlformats.org/officeDocument/2006/relationships/image" Target="../media/image9.png"/><Relationship Id="rId6" Type="http://schemas.openxmlformats.org/officeDocument/2006/relationships/image" Target="../media/image-3-23.svg"/><Relationship Id="rId7" Type="http://schemas.openxmlformats.org/officeDocument/2006/relationships/image" Target="../media/image10.png"/><Relationship Id="rId8" Type="http://schemas.openxmlformats.org/officeDocument/2006/relationships/image" Target="../media/image-3-24.svg"/><Relationship Id="rId9" Type="http://schemas.openxmlformats.org/officeDocument/2006/relationships/image" Target="../media/image11.png"/><Relationship Id="rId10" Type="http://schemas.openxmlformats.org/officeDocument/2006/relationships/image" Target="../media/image-3-25.svg"/><Relationship Id="rId11" Type="http://schemas.openxmlformats.org/officeDocument/2006/relationships/image" Target="../media/image12.png"/><Relationship Id="rId1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-5-13.svg"/><Relationship Id="rId5" Type="http://schemas.openxmlformats.org/officeDocument/2006/relationships/image" Target="../media/image17.png"/><Relationship Id="rId6" Type="http://schemas.openxmlformats.org/officeDocument/2006/relationships/image" Target="../media/image-5-14.svg"/><Relationship Id="rId7" Type="http://schemas.openxmlformats.org/officeDocument/2006/relationships/image" Target="../media/image18.png"/><Relationship Id="rId8" Type="http://schemas.openxmlformats.org/officeDocument/2006/relationships/image" Target="../media/image-5-15.svg"/><Relationship Id="rId9" Type="http://schemas.openxmlformats.org/officeDocument/2006/relationships/image" Target="../media/image19.png"/><Relationship Id="rId10" Type="http://schemas.openxmlformats.org/officeDocument/2006/relationships/image" Target="../media/image-5-16.svg"/><Relationship Id="rId11" Type="http://schemas.openxmlformats.org/officeDocument/2006/relationships/image" Target="../media/image20.png"/><Relationship Id="rId1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openxmlformats.org/officeDocument/2006/relationships/image" Target="../media/image-7-8.svg"/><Relationship Id="rId5" Type="http://schemas.openxmlformats.org/officeDocument/2006/relationships/image" Target="../media/image24.png"/><Relationship Id="rId6" Type="http://schemas.openxmlformats.org/officeDocument/2006/relationships/image" Target="../media/image-7-9.svg"/><Relationship Id="rId7" Type="http://schemas.openxmlformats.org/officeDocument/2006/relationships/image" Target="../media/image25.png"/><Relationship Id="rId8" Type="http://schemas.openxmlformats.org/officeDocument/2006/relationships/image" Target="../media/image-7-10.svg"/><Relationship Id="rId9" Type="http://schemas.openxmlformats.org/officeDocument/2006/relationships/image" Target="../media/image26.png"/><Relationship Id="rId10" Type="http://schemas.openxmlformats.org/officeDocument/2006/relationships/image" Target="../media/image-7-11.svg"/><Relationship Id="rId11" Type="http://schemas.openxmlformats.org/officeDocument/2006/relationships/image" Target="../media/image-7-12.svg"/><Relationship Id="rId1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-8-5.svg"/><Relationship Id="rId5" Type="http://schemas.openxmlformats.org/officeDocument/2006/relationships/image" Target="../media/image29.png"/><Relationship Id="rId6" Type="http://schemas.openxmlformats.org/officeDocument/2006/relationships/image" Target="../media/image-8-6.svg"/><Relationship Id="rId7" Type="http://schemas.openxmlformats.org/officeDocument/2006/relationships/image" Target="../media/image30.png"/><Relationship Id="rId8" Type="http://schemas.openxmlformats.org/officeDocument/2006/relationships/image" Target="../media/image-8-7.svg"/><Relationship Id="rId9" Type="http://schemas.openxmlformats.org/officeDocument/2006/relationships/image" Target="../media/image31.png"/><Relationship Id="rId10" Type="http://schemas.openxmlformats.org/officeDocument/2006/relationships/image" Target="../media/image-8-8.svg"/><Relationship Id="rId11" Type="http://schemas.openxmlformats.org/officeDocument/2006/relationships/image" Target="../media/image32.png"/><Relationship Id="rId12" Type="http://schemas.openxmlformats.org/officeDocument/2006/relationships/image" Target="../media/image-8-9.svg"/><Relationship Id="rId13" Type="http://schemas.openxmlformats.org/officeDocument/2006/relationships/image" Target="../media/image33.png"/><Relationship Id="rId14" Type="http://schemas.openxmlformats.org/officeDocument/2006/relationships/image" Target="../media/image-8-10.svg"/><Relationship Id="rId15" Type="http://schemas.openxmlformats.org/officeDocument/2006/relationships/image" Target="../media/image34.png"/><Relationship Id="rId16" Type="http://schemas.openxmlformats.org/officeDocument/2006/relationships/image" Target="../media/image-8-11.sv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Relationship Id="rId20" Type="http://schemas.openxmlformats.org/officeDocument/2006/relationships/image" Target="../media/image38.png"/><Relationship Id="rId21" Type="http://schemas.openxmlformats.org/officeDocument/2006/relationships/image" Target="../media/image39.png"/><Relationship Id="rId2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4.jpg"/><Relationship Id="rId3" Type="http://schemas.openxmlformats.org/officeDocument/2006/relationships/image" Target="../media/image45.png"/><Relationship Id="rId4" Type="http://schemas.openxmlformats.org/officeDocument/2006/relationships/image" Target="../media/image-10-2.svg"/><Relationship Id="rId5" Type="http://schemas.openxmlformats.org/officeDocument/2006/relationships/image" Target="../media/image46.png"/><Relationship Id="rId6" Type="http://schemas.openxmlformats.org/officeDocument/2006/relationships/image" Target="../media/image-10-3.svg"/><Relationship Id="rId7" Type="http://schemas.openxmlformats.org/officeDocument/2006/relationships/image" Target="../media/image47.png"/><Relationship Id="rId8" Type="http://schemas.openxmlformats.org/officeDocument/2006/relationships/image" Target="../media/image-10-4.svg"/><Relationship Id="rId9" Type="http://schemas.openxmlformats.org/officeDocument/2006/relationships/image" Target="../media/image48.png"/><Relationship Id="rId10" Type="http://schemas.openxmlformats.org/officeDocument/2006/relationships/image" Target="../media/image-10-5.svg"/><Relationship Id="rId11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24595"/>
            <a:ext cx="10723294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3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智轮星途</a:t>
            </a:r>
            <a:endParaRPr lang="zh-CN" sz="3300" dirty="0"/>
          </a:p>
        </p:txBody>
      </p:sp>
      <p:sp>
        <p:nvSpPr>
          <p:cNvPr id="3" name="Text 1"/>
          <p:cNvSpPr/>
          <p:nvPr/>
        </p:nvSpPr>
        <p:spPr>
          <a:xfrm>
            <a:off x="734200" y="1317030"/>
            <a:ext cx="10723294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滑行运动数字化教学与智能评测平台</a:t>
            </a:r>
            <a:endParaRPr lang="zh-CN" sz="1650" dirty="0"/>
          </a:p>
        </p:txBody>
      </p:sp>
      <p:sp>
        <p:nvSpPr>
          <p:cNvPr id="4" name="Text 2"/>
          <p:cNvSpPr/>
          <p:nvPr/>
        </p:nvSpPr>
        <p:spPr>
          <a:xfrm>
            <a:off x="734200" y="1834158"/>
            <a:ext cx="10723294" cy="1447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4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让每一节体育课可教、可练、可评、可追踪</a:t>
            </a:r>
            <a:endParaRPr lang="zh-CN" sz="4550" dirty="0"/>
          </a:p>
        </p:txBody>
      </p:sp>
      <p:sp>
        <p:nvSpPr>
          <p:cNvPr id="5" name="Text 3"/>
          <p:cNvSpPr/>
          <p:nvPr/>
        </p:nvSpPr>
        <p:spPr>
          <a:xfrm>
            <a:off x="429408" y="3536652"/>
            <a:ext cx="11332879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zh-CN" alt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以视觉为教师、以传感器为终端、以学校和训练平台为应用载体。</a:t>
            </a:r>
            <a:endParaRPr lang="zh-CN" sz="1450" dirty="0"/>
          </a:p>
        </p:txBody>
      </p:sp>
      <p:sp>
        <p:nvSpPr>
          <p:cNvPr id="6" name="Shape 4"/>
          <p:cNvSpPr/>
          <p:nvPr/>
        </p:nvSpPr>
        <p:spPr>
          <a:xfrm>
            <a:off x="734200" y="4014688"/>
            <a:ext cx="3461160" cy="1640681"/>
          </a:xfrm>
          <a:prstGeom prst="roundRect">
            <a:avLst>
              <a:gd name="adj" fmla="val 17263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2058" y="4222552"/>
            <a:ext cx="3045443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核心定位</a:t>
            </a:r>
            <a:endParaRPr lang="zh-CN" sz="1650" dirty="0"/>
          </a:p>
        </p:txBody>
      </p:sp>
      <p:sp>
        <p:nvSpPr>
          <p:cNvPr id="8" name="Text 6"/>
          <p:cNvSpPr/>
          <p:nvPr/>
        </p:nvSpPr>
        <p:spPr>
          <a:xfrm>
            <a:off x="942058" y="4586684"/>
            <a:ext cx="3045443" cy="86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以轮滑为第一落地场景，构建视觉—传感融合的滑行运动数字体育基础设施</a:t>
            </a:r>
            <a:endParaRPr lang="zh-CN" sz="1450" dirty="0"/>
          </a:p>
        </p:txBody>
      </p:sp>
      <p:sp>
        <p:nvSpPr>
          <p:cNvPr id="9" name="Shape 7"/>
          <p:cNvSpPr/>
          <p:nvPr/>
        </p:nvSpPr>
        <p:spPr>
          <a:xfrm>
            <a:off x="4365218" y="4014688"/>
            <a:ext cx="3461160" cy="1640681"/>
          </a:xfrm>
          <a:prstGeom prst="roundRect">
            <a:avLst>
              <a:gd name="adj" fmla="val 17263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3076" y="4222552"/>
            <a:ext cx="3045443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拓展路径</a:t>
            </a:r>
            <a:endParaRPr lang="zh-CN" sz="1650" dirty="0"/>
          </a:p>
        </p:txBody>
      </p:sp>
      <p:sp>
        <p:nvSpPr>
          <p:cNvPr id="11" name="Text 9"/>
          <p:cNvSpPr/>
          <p:nvPr/>
        </p:nvSpPr>
        <p:spPr>
          <a:xfrm>
            <a:off x="4573076" y="4586684"/>
            <a:ext cx="3045443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后续延伸至滑板、滑冰、滑雪，轮滑是切入口，不是业务边界</a:t>
            </a:r>
            <a:endParaRPr lang="zh-CN" sz="1450" dirty="0"/>
          </a:p>
        </p:txBody>
      </p:sp>
      <p:sp>
        <p:nvSpPr>
          <p:cNvPr id="12" name="Shape 10"/>
          <p:cNvSpPr/>
          <p:nvPr/>
        </p:nvSpPr>
        <p:spPr>
          <a:xfrm>
            <a:off x="7996236" y="4014688"/>
            <a:ext cx="3461259" cy="1640681"/>
          </a:xfrm>
          <a:prstGeom prst="roundRect">
            <a:avLst>
              <a:gd name="adj" fmla="val 17263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4094" y="4222552"/>
            <a:ext cx="3045543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核心壁垒</a:t>
            </a:r>
            <a:endParaRPr lang="zh-CN" sz="1650" dirty="0"/>
          </a:p>
        </p:txBody>
      </p:sp>
      <p:sp>
        <p:nvSpPr>
          <p:cNvPr id="14" name="Text 12"/>
          <p:cNvSpPr/>
          <p:nvPr/>
        </p:nvSpPr>
        <p:spPr>
          <a:xfrm>
            <a:off x="8204094" y="4586684"/>
            <a:ext cx="3045543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zh-CN" alt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真实场景深耕、复杂人体—器材—地面耦合、专项数据与先发优势</a:t>
            </a:r>
            <a:endParaRPr lang="zh-CN" sz="1450" dirty="0"/>
          </a:p>
        </p:txBody>
      </p:sp>
      <p:sp>
        <p:nvSpPr>
          <p:cNvPr id="15" name="Text 13"/>
          <p:cNvSpPr/>
          <p:nvPr/>
        </p:nvSpPr>
        <p:spPr>
          <a:xfrm>
            <a:off x="429408" y="5846465"/>
            <a:ext cx="11332879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zh-CN" alt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团队名称【待补】｜所在学校【待补】｜参赛组别【待补】｜指导教师【待补】</a:t>
            </a:r>
            <a:endParaRPr lang="zh-CN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41660"/>
            <a:ext cx="10723294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我们解决的不是一个动作识别问题，而是专项体育"教、练、评"断裂</a:t>
            </a:r>
            <a:endParaRPr lang="zh-CN" sz="2350" dirty="0"/>
          </a:p>
        </p:txBody>
      </p:sp>
      <p:sp>
        <p:nvSpPr>
          <p:cNvPr id="3" name="Shape 1"/>
          <p:cNvSpPr/>
          <p:nvPr/>
        </p:nvSpPr>
        <p:spPr>
          <a:xfrm>
            <a:off x="734200" y="1297583"/>
            <a:ext cx="10723294" cy="416322"/>
          </a:xfrm>
          <a:prstGeom prst="roundRect">
            <a:avLst>
              <a:gd name="adj" fmla="val 49134"/>
            </a:avLst>
          </a:prstGeom>
          <a:solidFill>
            <a:srgbClr val="0080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24" y="1427857"/>
            <a:ext cx="170454" cy="1363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77300" y="1420217"/>
            <a:ext cx="10753456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核心结论：学校、机构与家庭之间缺少能够理解专项动作、承接长期训练的数字底座。</a:t>
            </a:r>
            <a:endParaRPr lang="zh-CN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1976041"/>
            <a:ext cx="5195361" cy="14074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5771" y="2131417"/>
            <a:ext cx="480841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🏫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校园端</a:t>
            </a:r>
            <a:endParaRPr lang="zh-CN" sz="1150" dirty="0"/>
          </a:p>
        </p:txBody>
      </p:sp>
      <p:sp>
        <p:nvSpPr>
          <p:cNvPr id="8" name="Text 4"/>
          <p:cNvSpPr/>
          <p:nvPr/>
        </p:nvSpPr>
        <p:spPr>
          <a:xfrm>
            <a:off x="965771" y="2415679"/>
            <a:ext cx="4808417" cy="8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大班教学难逐人纠错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专项动作缺少统一标准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课堂、课后与家庭数据割裂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现有智慧体育多停留在签到、计数、距离和基础体测</a:t>
            </a:r>
            <a:endParaRPr lang="zh-CN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3472061"/>
            <a:ext cx="5195361" cy="14074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5771" y="3627438"/>
            <a:ext cx="480841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机构端</a:t>
            </a:r>
            <a:endParaRPr lang="zh-CN" sz="1150" dirty="0"/>
          </a:p>
        </p:txBody>
      </p:sp>
      <p:sp>
        <p:nvSpPr>
          <p:cNvPr id="11" name="Text 6"/>
          <p:cNvSpPr/>
          <p:nvPr/>
        </p:nvSpPr>
        <p:spPr>
          <a:xfrm>
            <a:off x="965771" y="3911699"/>
            <a:ext cx="4808417" cy="812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优秀教练经验难复制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课后剪视频和逐帧讲解耗时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家长难看到进步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升班、续费和竞训缺少客观依据</a:t>
            </a:r>
            <a:endParaRPr lang="zh-CN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4968081"/>
            <a:ext cx="5195361" cy="9857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5771" y="5123458"/>
            <a:ext cx="4808417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🏠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家庭端</a:t>
            </a:r>
            <a:endParaRPr lang="zh-CN" sz="1150" dirty="0"/>
          </a:p>
        </p:txBody>
      </p:sp>
      <p:sp>
        <p:nvSpPr>
          <p:cNvPr id="14" name="Text 8"/>
          <p:cNvSpPr/>
          <p:nvPr/>
        </p:nvSpPr>
        <p:spPr>
          <a:xfrm>
            <a:off x="965771" y="5407720"/>
            <a:ext cx="4808417" cy="390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教学视频只能告诉用户"看什么"，无法回答"我做得怎么样"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专业实验室和多传感器方案成本高、使用复杂</a:t>
            </a:r>
            <a:endParaRPr lang="zh-CN" sz="1050" dirty="0"/>
          </a:p>
        </p:txBody>
      </p:sp>
      <p:sp>
        <p:nvSpPr>
          <p:cNvPr id="15" name="Text 9"/>
          <p:cNvSpPr/>
          <p:nvPr/>
        </p:nvSpPr>
        <p:spPr>
          <a:xfrm>
            <a:off x="6268484" y="1902222"/>
            <a:ext cx="51953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智轮星途的连接价值</a:t>
            </a:r>
            <a:endParaRPr lang="zh-CN" sz="1150" dirty="0"/>
          </a:p>
        </p:txBody>
      </p:sp>
      <p:sp>
        <p:nvSpPr>
          <p:cNvPr id="16" name="Text 10"/>
          <p:cNvSpPr/>
          <p:nvPr/>
        </p:nvSpPr>
        <p:spPr>
          <a:xfrm>
            <a:off x="6268484" y="2180134"/>
            <a:ext cx="5195361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智轮星途把教学内容、动作分析、专项评价、课后训练与成长档案连接起来，打通校园、机构与家庭三端数据孤岛，形成完整的专项体育数字闭环。</a:t>
            </a:r>
            <a:endParaRPr lang="zh-CN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8484" y="2639616"/>
            <a:ext cx="3376925" cy="33770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23788"/>
            <a:ext cx="10723294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从"看见运动"升级为"理解动作并给出可执行反馈"</a:t>
            </a:r>
            <a:endParaRPr lang="zh-CN" sz="2350" dirty="0"/>
          </a:p>
        </p:txBody>
      </p:sp>
      <p:sp>
        <p:nvSpPr>
          <p:cNvPr id="3" name="Text 1"/>
          <p:cNvSpPr/>
          <p:nvPr/>
        </p:nvSpPr>
        <p:spPr>
          <a:xfrm>
            <a:off x="734200" y="1179711"/>
            <a:ext cx="11332879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现有方案各有局限，智轮星途通过联合建模实现真正的专项动作理解。</a:t>
            </a:r>
            <a:endParaRPr lang="zh-CN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158206"/>
            <a:ext cx="3376925" cy="3377009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484" y="1559024"/>
            <a:ext cx="5195361" cy="81815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1637" y="1865809"/>
            <a:ext cx="204485" cy="20449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921525" y="1714401"/>
            <a:ext cx="43869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普通视频回放</a:t>
            </a:r>
            <a:endParaRPr lang="zh-CN" sz="1150" dirty="0"/>
          </a:p>
        </p:txBody>
      </p:sp>
      <p:sp>
        <p:nvSpPr>
          <p:cNvPr id="8" name="Text 3"/>
          <p:cNvSpPr/>
          <p:nvPr/>
        </p:nvSpPr>
        <p:spPr>
          <a:xfrm>
            <a:off x="6921525" y="1992313"/>
            <a:ext cx="438694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能看，但依赖人工逐帧分析</a:t>
            </a:r>
            <a:endParaRPr lang="zh-CN" sz="10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8484" y="2465784"/>
            <a:ext cx="5195361" cy="818158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51637" y="2772569"/>
            <a:ext cx="204485" cy="20449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921525" y="2621161"/>
            <a:ext cx="43869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通用人体姿态</a:t>
            </a:r>
            <a:endParaRPr lang="zh-CN" sz="1150" dirty="0"/>
          </a:p>
        </p:txBody>
      </p:sp>
      <p:sp>
        <p:nvSpPr>
          <p:cNvPr id="12" name="Text 5"/>
          <p:cNvSpPr/>
          <p:nvPr/>
        </p:nvSpPr>
        <p:spPr>
          <a:xfrm>
            <a:off x="6921525" y="2899073"/>
            <a:ext cx="438694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能识别人，但不理解轮滑鞋、滑板、冰刀、雪板与地面关系</a:t>
            </a:r>
            <a:endParaRPr lang="zh-CN" sz="10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68484" y="3372545"/>
            <a:ext cx="5195361" cy="818158"/>
          </a:xfrm>
          <a:prstGeom prst="rect">
            <a:avLst/>
          </a:prstGeom>
        </p:spPr>
      </p:pic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51637" y="3679329"/>
            <a:ext cx="204485" cy="20449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6921525" y="3527921"/>
            <a:ext cx="43869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专业动捕实验室</a:t>
            </a:r>
            <a:endParaRPr lang="zh-CN" sz="1150" dirty="0"/>
          </a:p>
        </p:txBody>
      </p:sp>
      <p:sp>
        <p:nvSpPr>
          <p:cNvPr id="16" name="Text 7"/>
          <p:cNvSpPr/>
          <p:nvPr/>
        </p:nvSpPr>
        <p:spPr>
          <a:xfrm>
            <a:off x="6921525" y="3805833"/>
            <a:ext cx="438694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精度高，但成本、场地和操作门槛极高</a:t>
            </a:r>
            <a:endParaRPr lang="zh-CN" sz="105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68484" y="4279305"/>
            <a:ext cx="5195361" cy="818158"/>
          </a:xfrm>
          <a:prstGeom prst="rect">
            <a:avLst/>
          </a:prstGeom>
        </p:spPr>
      </p:pic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51637" y="4586089"/>
            <a:ext cx="204485" cy="204490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6921525" y="4434681"/>
            <a:ext cx="43869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纯传感器</a:t>
            </a:r>
            <a:endParaRPr lang="zh-CN" sz="1150" dirty="0"/>
          </a:p>
        </p:txBody>
      </p:sp>
      <p:sp>
        <p:nvSpPr>
          <p:cNvPr id="20" name="Text 9"/>
          <p:cNvSpPr/>
          <p:nvPr/>
        </p:nvSpPr>
        <p:spPr>
          <a:xfrm>
            <a:off x="6921525" y="4712593"/>
            <a:ext cx="438694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信号频率高，但缺少动作名称、时间边界、阶段和错误语义</a:t>
            </a:r>
            <a:endParaRPr lang="zh-CN" sz="105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268484" y="5186065"/>
            <a:ext cx="5195361" cy="948432"/>
          </a:xfrm>
          <a:prstGeom prst="rect">
            <a:avLst/>
          </a:prstGeom>
        </p:spPr>
      </p:pic>
      <p:pic>
        <p:nvPicPr>
          <p:cNvPr id="22" name="Image 10" descr="preencoded.png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51637" y="5558036"/>
            <a:ext cx="204485" cy="20449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6921525" y="5341441"/>
            <a:ext cx="43869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智轮星途</a:t>
            </a:r>
            <a:endParaRPr lang="zh-CN" sz="1150" dirty="0"/>
          </a:p>
        </p:txBody>
      </p:sp>
      <p:sp>
        <p:nvSpPr>
          <p:cNvPr id="24" name="Text 11"/>
          <p:cNvSpPr/>
          <p:nvPr/>
        </p:nvSpPr>
        <p:spPr>
          <a:xfrm>
            <a:off x="6921525" y="5619353"/>
            <a:ext cx="4386947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人体—器材—地面联合建模＋视觉教师＋融合自动标注＋单快拆传感器＋3D课程</a:t>
            </a:r>
            <a:endParaRPr lang="zh-CN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21010"/>
            <a:ext cx="10723294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轮滑是第一块高难度试验田，不是项目天花板</a:t>
            </a:r>
            <a:endParaRPr lang="zh-CN" sz="2350" dirty="0"/>
          </a:p>
        </p:txBody>
      </p:sp>
      <p:sp>
        <p:nvSpPr>
          <p:cNvPr id="3" name="Text 1"/>
          <p:cNvSpPr/>
          <p:nvPr/>
        </p:nvSpPr>
        <p:spPr>
          <a:xfrm>
            <a:off x="734200" y="2122388"/>
            <a:ext cx="51953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为什么先做轮滑</a:t>
            </a:r>
            <a:endParaRPr lang="zh-CN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2400300"/>
            <a:ext cx="5195361" cy="60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团队已有真实教学、训练和多机位视频场景；可接触教练、学员和家长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动作速度快、遮挡多，足踝—鞋体—轮轴—地面关系复杂，通用方案难直接适配</a:t>
            </a:r>
            <a:endParaRPr lang="zh-CN" sz="1050" dirty="0"/>
          </a:p>
          <a:p>
            <a:pPr algn="l" marL="213360" indent="-213360">
              <a:lnSpc>
                <a:spcPct val="110000"/>
              </a:lnSpc>
              <a:buSzPct val="100000"/>
              <a:buChar char="•"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在复杂垂直场景中先建立动作标准、数据、模型和交付闭环，更容易形成高壁垒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734200" y="3090466"/>
            <a:ext cx="51953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为什么能拓展</a:t>
            </a:r>
            <a:endParaRPr lang="zh-CN" sz="1150" dirty="0"/>
          </a:p>
        </p:txBody>
      </p:sp>
      <p:sp>
        <p:nvSpPr>
          <p:cNvPr id="6" name="Text 4"/>
          <p:cNvSpPr/>
          <p:nvPr/>
        </p:nvSpPr>
        <p:spPr>
          <a:xfrm>
            <a:off x="734200" y="3368377"/>
            <a:ext cx="5195361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通用底座可复用人体三维、时序动作识别、器材检测、视觉传感融合、3D教学、跟练和成长档案。</a:t>
            </a:r>
            <a:endParaRPr lang="zh-CN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8484" y="1232396"/>
            <a:ext cx="3376925" cy="337700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4200" y="4808835"/>
            <a:ext cx="10723294" cy="1428155"/>
          </a:xfrm>
          <a:prstGeom prst="roundRect">
            <a:avLst>
              <a:gd name="adj" fmla="val 14323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6900" y="4821535"/>
            <a:ext cx="5348947" cy="701377"/>
          </a:xfrm>
          <a:custGeom>
            <a:avLst/>
            <a:gdLst/>
            <a:ahLst/>
            <a:cxnLst/>
            <a:rect l="l" t="t" r="r" b="b"/>
            <a:pathLst>
              <a:path w="5348947" h="701377">
                <a:moveTo>
                  <a:pt x="170462" y="0"/>
                </a:moveTo>
                <a:lnTo>
                  <a:pt x="5348947" y="0"/>
                </a:lnTo>
                <a:lnTo>
                  <a:pt x="5348947" y="701377"/>
                </a:lnTo>
                <a:lnTo>
                  <a:pt x="0" y="701377"/>
                </a:lnTo>
                <a:lnTo>
                  <a:pt x="0" y="170466"/>
                </a:lnTo>
                <a:arcTo hR="170466" wR="170462" stAng="10800000" swAng="5400000"/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0" name="Text 7"/>
          <p:cNvSpPr/>
          <p:nvPr/>
        </p:nvSpPr>
        <p:spPr>
          <a:xfrm>
            <a:off x="883223" y="4957862"/>
            <a:ext cx="5076301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🛼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轮滑</a:t>
            </a:r>
            <a:endParaRPr lang="zh-CN" sz="1150" dirty="0"/>
          </a:p>
        </p:txBody>
      </p:sp>
      <p:sp>
        <p:nvSpPr>
          <p:cNvPr id="11" name="Text 8"/>
          <p:cNvSpPr/>
          <p:nvPr/>
        </p:nvSpPr>
        <p:spPr>
          <a:xfrm>
            <a:off x="883223" y="5206702"/>
            <a:ext cx="507630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鞋体与轮轴专项模型</a:t>
            </a:r>
            <a:endParaRPr lang="zh-CN" sz="1050" dirty="0"/>
          </a:p>
        </p:txBody>
      </p:sp>
      <p:sp>
        <p:nvSpPr>
          <p:cNvPr id="12" name="Shape 9"/>
          <p:cNvSpPr/>
          <p:nvPr/>
        </p:nvSpPr>
        <p:spPr>
          <a:xfrm>
            <a:off x="6095848" y="4821535"/>
            <a:ext cx="5348947" cy="701377"/>
          </a:xfrm>
          <a:custGeom>
            <a:avLst/>
            <a:gdLst/>
            <a:ahLst/>
            <a:cxnLst/>
            <a:rect l="l" t="t" r="r" b="b"/>
            <a:pathLst>
              <a:path w="5348947" h="701377">
                <a:moveTo>
                  <a:pt x="0" y="0"/>
                </a:moveTo>
                <a:lnTo>
                  <a:pt x="5178485" y="0"/>
                </a:lnTo>
                <a:arcTo hR="170466" wR="170462" stAng="16200000" swAng="5400000"/>
                <a:lnTo>
                  <a:pt x="5348947" y="701377"/>
                </a:lnTo>
                <a:lnTo>
                  <a:pt x="0" y="701377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95848" y="4821535"/>
            <a:ext cx="19050" cy="701377"/>
          </a:xfrm>
          <a:prstGeom prst="roundRect">
            <a:avLst>
              <a:gd name="adj" fmla="val 49999"/>
            </a:avLst>
          </a:prstGeom>
          <a:solidFill>
            <a:srgbClr val="0FC3C0"/>
          </a:solidFill>
          <a:ln/>
        </p:spPr>
      </p:sp>
      <p:sp>
        <p:nvSpPr>
          <p:cNvPr id="14" name="Text 11"/>
          <p:cNvSpPr/>
          <p:nvPr/>
        </p:nvSpPr>
        <p:spPr>
          <a:xfrm>
            <a:off x="6232171" y="4957862"/>
            <a:ext cx="5076301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🛹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滑板</a:t>
            </a:r>
            <a:endParaRPr lang="zh-CN" sz="1150" dirty="0"/>
          </a:p>
        </p:txBody>
      </p:sp>
      <p:sp>
        <p:nvSpPr>
          <p:cNvPr id="15" name="Text 12"/>
          <p:cNvSpPr/>
          <p:nvPr/>
        </p:nvSpPr>
        <p:spPr>
          <a:xfrm>
            <a:off x="6232171" y="5206702"/>
            <a:ext cx="507630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板体与起落专项模型</a:t>
            </a:r>
            <a:endParaRPr lang="zh-CN" sz="1050" dirty="0"/>
          </a:p>
        </p:txBody>
      </p:sp>
      <p:sp>
        <p:nvSpPr>
          <p:cNvPr id="16" name="Shape 13"/>
          <p:cNvSpPr/>
          <p:nvPr/>
        </p:nvSpPr>
        <p:spPr>
          <a:xfrm>
            <a:off x="746900" y="5522913"/>
            <a:ext cx="5348947" cy="701377"/>
          </a:xfrm>
          <a:custGeom>
            <a:avLst/>
            <a:gdLst/>
            <a:ahLst/>
            <a:cxnLst/>
            <a:rect l="l" t="t" r="r" b="b"/>
            <a:pathLst>
              <a:path w="5348947" h="701377">
                <a:moveTo>
                  <a:pt x="0" y="0"/>
                </a:moveTo>
                <a:lnTo>
                  <a:pt x="5348947" y="0"/>
                </a:lnTo>
                <a:lnTo>
                  <a:pt x="5348947" y="701377"/>
                </a:lnTo>
                <a:lnTo>
                  <a:pt x="170462" y="701377"/>
                </a:lnTo>
                <a:arcTo hR="170466" wR="170462" stAng="5400000" swAng="5400000"/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17" name="Shape 14"/>
          <p:cNvSpPr/>
          <p:nvPr/>
        </p:nvSpPr>
        <p:spPr>
          <a:xfrm>
            <a:off x="746900" y="5522913"/>
            <a:ext cx="5348947" cy="19050"/>
          </a:xfrm>
          <a:prstGeom prst="roundRect">
            <a:avLst>
              <a:gd name="adj" fmla="val 49999"/>
            </a:avLst>
          </a:prstGeom>
          <a:solidFill>
            <a:srgbClr val="1D8DCD"/>
          </a:solidFill>
          <a:ln/>
        </p:spPr>
      </p:sp>
      <p:sp>
        <p:nvSpPr>
          <p:cNvPr id="18" name="Text 15"/>
          <p:cNvSpPr/>
          <p:nvPr/>
        </p:nvSpPr>
        <p:spPr>
          <a:xfrm>
            <a:off x="883223" y="5659239"/>
            <a:ext cx="5076301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⛸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滑冰</a:t>
            </a:r>
            <a:endParaRPr lang="zh-CN" sz="1150" dirty="0"/>
          </a:p>
        </p:txBody>
      </p:sp>
      <p:sp>
        <p:nvSpPr>
          <p:cNvPr id="19" name="Text 16"/>
          <p:cNvSpPr/>
          <p:nvPr/>
        </p:nvSpPr>
        <p:spPr>
          <a:xfrm>
            <a:off x="883223" y="5908080"/>
            <a:ext cx="507630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冰刀与刃角专项模型</a:t>
            </a:r>
            <a:endParaRPr lang="zh-CN" sz="1050" dirty="0"/>
          </a:p>
        </p:txBody>
      </p:sp>
      <p:sp>
        <p:nvSpPr>
          <p:cNvPr id="20" name="Shape 17"/>
          <p:cNvSpPr/>
          <p:nvPr/>
        </p:nvSpPr>
        <p:spPr>
          <a:xfrm>
            <a:off x="6095848" y="5522913"/>
            <a:ext cx="5348947" cy="701377"/>
          </a:xfrm>
          <a:custGeom>
            <a:avLst/>
            <a:gdLst/>
            <a:ahLst/>
            <a:cxnLst/>
            <a:rect l="l" t="t" r="r" b="b"/>
            <a:pathLst>
              <a:path w="5348947" h="701377">
                <a:moveTo>
                  <a:pt x="0" y="0"/>
                </a:moveTo>
                <a:lnTo>
                  <a:pt x="5348947" y="0"/>
                </a:lnTo>
                <a:lnTo>
                  <a:pt x="5348947" y="530911"/>
                </a:lnTo>
                <a:arcTo hR="170466" wR="170462" stAng="0" swAng="5400000"/>
                <a:lnTo>
                  <a:pt x="0" y="701377"/>
                </a:lnTo>
                <a:lnTo>
                  <a:pt x="0" y="0"/>
                </a:lnTo>
                <a:close/>
              </a:path>
            </a:pathLst>
          </a:custGeom>
          <a:solidFill>
            <a:srgbClr val="0A081B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5848" y="5522913"/>
            <a:ext cx="19050" cy="701377"/>
          </a:xfrm>
          <a:prstGeom prst="roundRect">
            <a:avLst>
              <a:gd name="adj" fmla="val 49999"/>
            </a:avLst>
          </a:prstGeom>
          <a:solidFill>
            <a:srgbClr val="222B4A"/>
          </a:solidFill>
          <a:ln/>
        </p:spPr>
      </p:sp>
      <p:sp>
        <p:nvSpPr>
          <p:cNvPr id="22" name="Shape 19"/>
          <p:cNvSpPr/>
          <p:nvPr/>
        </p:nvSpPr>
        <p:spPr>
          <a:xfrm>
            <a:off x="6095848" y="5522913"/>
            <a:ext cx="5348947" cy="19050"/>
          </a:xfrm>
          <a:prstGeom prst="roundRect">
            <a:avLst>
              <a:gd name="adj" fmla="val 49999"/>
            </a:avLst>
          </a:prstGeom>
          <a:solidFill>
            <a:srgbClr val="222B4A"/>
          </a:solidFill>
          <a:ln/>
        </p:spPr>
      </p:sp>
      <p:sp>
        <p:nvSpPr>
          <p:cNvPr id="23" name="Text 20"/>
          <p:cNvSpPr/>
          <p:nvPr/>
        </p:nvSpPr>
        <p:spPr>
          <a:xfrm>
            <a:off x="6232171" y="5659239"/>
            <a:ext cx="5076301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🎿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滑雪</a:t>
            </a:r>
            <a:endParaRPr lang="zh-CN" sz="1150" dirty="0"/>
          </a:p>
        </p:txBody>
      </p:sp>
      <p:sp>
        <p:nvSpPr>
          <p:cNvPr id="24" name="Text 21"/>
          <p:cNvSpPr/>
          <p:nvPr/>
        </p:nvSpPr>
        <p:spPr>
          <a:xfrm>
            <a:off x="6232171" y="5908080"/>
            <a:ext cx="5076301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双板、雪杖与转弯周期专项模型</a:t>
            </a:r>
            <a:endParaRPr lang="zh-CN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2973"/>
            <a:ext cx="10723294" cy="360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一平台、三阶段技术引擎、五类核心产品</a:t>
            </a:r>
            <a:endParaRPr lang="zh-CN" sz="2250" dirty="0"/>
          </a:p>
        </p:txBody>
      </p:sp>
      <p:sp>
        <p:nvSpPr>
          <p:cNvPr id="3" name="Shape 1"/>
          <p:cNvSpPr/>
          <p:nvPr/>
        </p:nvSpPr>
        <p:spPr>
          <a:xfrm>
            <a:off x="734200" y="1134963"/>
            <a:ext cx="10723294" cy="386159"/>
          </a:xfrm>
          <a:prstGeom prst="roundRect">
            <a:avLst>
              <a:gd name="adj" fmla="val 49999"/>
            </a:avLst>
          </a:prstGeom>
          <a:solidFill>
            <a:srgbClr val="0080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74" y="1248370"/>
            <a:ext cx="162417" cy="12997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6564" y="1247874"/>
            <a:ext cx="1078054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五类产品共享动作标准、数据格式、模型能力和用户档案，不是五个彼此割裂的项目。</a:t>
            </a:r>
            <a:endParaRPr lang="zh-CN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754" y="1702296"/>
            <a:ext cx="3327912" cy="19751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16021" y="3157324"/>
            <a:ext cx="827232" cy="28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C单快拆传感器独立应用</a:t>
            </a:r>
            <a:endParaRPr lang="zh-CN" sz="850" dirty="0"/>
          </a:p>
        </p:txBody>
      </p:sp>
      <p:sp>
        <p:nvSpPr>
          <p:cNvPr id="8" name="Text 4"/>
          <p:cNvSpPr/>
          <p:nvPr/>
        </p:nvSpPr>
        <p:spPr>
          <a:xfrm>
            <a:off x="3773483" y="3157324"/>
            <a:ext cx="827232" cy="28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B视觉传感器融合与自动监督</a:t>
            </a:r>
            <a:endParaRPr lang="zh-CN" sz="850" dirty="0"/>
          </a:p>
        </p:txBody>
      </p:sp>
      <p:sp>
        <p:nvSpPr>
          <p:cNvPr id="9" name="Text 5"/>
          <p:cNvSpPr/>
          <p:nvPr/>
        </p:nvSpPr>
        <p:spPr>
          <a:xfrm>
            <a:off x="2713947" y="3228150"/>
            <a:ext cx="827232" cy="141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A视觉动作理解</a:t>
            </a:r>
            <a:endParaRPr lang="zh-CN" sz="850" dirty="0"/>
          </a:p>
        </p:txBody>
      </p:sp>
      <p:sp>
        <p:nvSpPr>
          <p:cNvPr id="10" name="Text 6"/>
          <p:cNvSpPr/>
          <p:nvPr/>
        </p:nvSpPr>
        <p:spPr>
          <a:xfrm>
            <a:off x="7916764" y="2108200"/>
            <a:ext cx="3546982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统一平台能力</a:t>
            </a:r>
            <a:endParaRPr lang="zh-CN" sz="1100" dirty="0"/>
          </a:p>
        </p:txBody>
      </p:sp>
      <p:sp>
        <p:nvSpPr>
          <p:cNvPr id="11" name="Text 7"/>
          <p:cNvSpPr/>
          <p:nvPr/>
        </p:nvSpPr>
        <p:spPr>
          <a:xfrm>
            <a:off x="7916764" y="2369245"/>
            <a:ext cx="3546982" cy="954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统一账号与数字课程</a:t>
            </a:r>
            <a:endParaRPr lang="zh-CN" sz="1000" dirty="0"/>
          </a:p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视觉分析与传感器连接</a:t>
            </a:r>
            <a:endParaRPr lang="zh-CN" sz="1000" dirty="0"/>
          </a:p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专项评价与成长档案</a:t>
            </a:r>
            <a:endParaRPr lang="zh-CN" sz="1000" dirty="0"/>
          </a:p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教师/教练工作台</a:t>
            </a:r>
            <a:endParaRPr lang="zh-CN" sz="1000" dirty="0"/>
          </a:p>
          <a:p>
            <a:pPr algn="l" marL="203200" indent="-203200">
              <a:lnSpc>
                <a:spcPct val="108000"/>
              </a:lnSpc>
              <a:buSzPct val="100000"/>
              <a:buChar char="•"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学校/机构管理后台</a:t>
            </a:r>
            <a:endParaRPr lang="zh-CN" sz="1000" dirty="0"/>
          </a:p>
        </p:txBody>
      </p:sp>
      <p:sp>
        <p:nvSpPr>
          <p:cNvPr id="12" name="Shape 8"/>
          <p:cNvSpPr/>
          <p:nvPr/>
        </p:nvSpPr>
        <p:spPr>
          <a:xfrm>
            <a:off x="734200" y="3858617"/>
            <a:ext cx="3520788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76873" y="4001294"/>
            <a:ext cx="389920" cy="389930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126" y="4108549"/>
            <a:ext cx="175414" cy="1754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76873" y="4471690"/>
            <a:ext cx="3235442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① 中小学数字教学</a:t>
            </a:r>
            <a:endParaRPr lang="zh-CN" sz="1100" dirty="0"/>
          </a:p>
        </p:txBody>
      </p:sp>
      <p:sp>
        <p:nvSpPr>
          <p:cNvPr id="16" name="Text 11"/>
          <p:cNvSpPr/>
          <p:nvPr/>
        </p:nvSpPr>
        <p:spPr>
          <a:xfrm>
            <a:off x="876873" y="4700488"/>
            <a:ext cx="323544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校园专项体育解决方案</a:t>
            </a:r>
            <a:endParaRPr lang="zh-CN" sz="1000" dirty="0"/>
          </a:p>
        </p:txBody>
      </p:sp>
      <p:sp>
        <p:nvSpPr>
          <p:cNvPr id="17" name="Shape 12"/>
          <p:cNvSpPr/>
          <p:nvPr/>
        </p:nvSpPr>
        <p:spPr>
          <a:xfrm>
            <a:off x="4335453" y="3858617"/>
            <a:ext cx="3520788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478126" y="4001294"/>
            <a:ext cx="389920" cy="389930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5379" y="4108549"/>
            <a:ext cx="175414" cy="17541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478126" y="4471690"/>
            <a:ext cx="3235442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② 培训机构系统</a:t>
            </a:r>
            <a:endParaRPr lang="zh-CN" sz="1100" dirty="0"/>
          </a:p>
        </p:txBody>
      </p:sp>
      <p:sp>
        <p:nvSpPr>
          <p:cNvPr id="21" name="Text 15"/>
          <p:cNvSpPr/>
          <p:nvPr/>
        </p:nvSpPr>
        <p:spPr>
          <a:xfrm>
            <a:off x="4478126" y="4700488"/>
            <a:ext cx="323544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机构数字教学与管理</a:t>
            </a:r>
            <a:endParaRPr lang="zh-CN" sz="1000" dirty="0"/>
          </a:p>
        </p:txBody>
      </p:sp>
      <p:sp>
        <p:nvSpPr>
          <p:cNvPr id="22" name="Shape 16"/>
          <p:cNvSpPr/>
          <p:nvPr/>
        </p:nvSpPr>
        <p:spPr>
          <a:xfrm>
            <a:off x="7936706" y="3858617"/>
            <a:ext cx="3520788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079379" y="4001294"/>
            <a:ext cx="389920" cy="389930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6632" y="4108549"/>
            <a:ext cx="175414" cy="17541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79379" y="4471690"/>
            <a:ext cx="3235442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③ C端单摄AI训练</a:t>
            </a:r>
            <a:endParaRPr lang="zh-CN" sz="1100" dirty="0"/>
          </a:p>
        </p:txBody>
      </p:sp>
      <p:sp>
        <p:nvSpPr>
          <p:cNvPr id="26" name="Text 19"/>
          <p:cNvSpPr/>
          <p:nvPr/>
        </p:nvSpPr>
        <p:spPr>
          <a:xfrm>
            <a:off x="8079379" y="4700488"/>
            <a:ext cx="3235442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手机单摄与3D跟练</a:t>
            </a:r>
            <a:endParaRPr lang="zh-CN" sz="1000" dirty="0"/>
          </a:p>
        </p:txBody>
      </p:sp>
      <p:sp>
        <p:nvSpPr>
          <p:cNvPr id="27" name="Shape 20"/>
          <p:cNvSpPr/>
          <p:nvPr/>
        </p:nvSpPr>
        <p:spPr>
          <a:xfrm>
            <a:off x="734200" y="5092005"/>
            <a:ext cx="5321365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76873" y="5234682"/>
            <a:ext cx="389920" cy="389930"/>
          </a:xfrm>
          <a:prstGeom prst="ellipse">
            <a:avLst/>
          </a:prstGeom>
          <a:solidFill>
            <a:srgbClr val="091231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4126" y="5341938"/>
            <a:ext cx="175414" cy="175419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76873" y="5705078"/>
            <a:ext cx="5036019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④ 专业视觉传感融合</a:t>
            </a:r>
            <a:endParaRPr lang="zh-CN" sz="1100" dirty="0"/>
          </a:p>
        </p:txBody>
      </p:sp>
      <p:sp>
        <p:nvSpPr>
          <p:cNvPr id="31" name="Text 23"/>
          <p:cNvSpPr/>
          <p:nvPr/>
        </p:nvSpPr>
        <p:spPr>
          <a:xfrm>
            <a:off x="876873" y="5933877"/>
            <a:ext cx="5036019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多机位视觉—传感融合系统</a:t>
            </a:r>
            <a:endParaRPr lang="zh-CN" sz="1000" dirty="0"/>
          </a:p>
        </p:txBody>
      </p:sp>
      <p:sp>
        <p:nvSpPr>
          <p:cNvPr id="32" name="Shape 24"/>
          <p:cNvSpPr/>
          <p:nvPr/>
        </p:nvSpPr>
        <p:spPr>
          <a:xfrm>
            <a:off x="6136030" y="5092005"/>
            <a:ext cx="5321465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278703" y="5234682"/>
            <a:ext cx="389920" cy="389930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85956" y="5341938"/>
            <a:ext cx="175414" cy="175419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78703" y="5705078"/>
            <a:ext cx="5036119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⑤ 单快拆智能传感器</a:t>
            </a:r>
            <a:endParaRPr lang="zh-CN" sz="1100" dirty="0"/>
          </a:p>
        </p:txBody>
      </p:sp>
      <p:sp>
        <p:nvSpPr>
          <p:cNvPr id="36" name="Text 27"/>
          <p:cNvSpPr/>
          <p:nvPr/>
        </p:nvSpPr>
        <p:spPr>
          <a:xfrm>
            <a:off x="6278703" y="5933877"/>
            <a:ext cx="5036119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zh-CN" alt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独立传感器硬件产品</a:t>
            </a:r>
            <a:endParaRPr lang="zh-CN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669627"/>
            <a:ext cx="6151409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校园方案：让专项体育课形成"课前、课中、课后、学期评价"闭环</a:t>
            </a:r>
            <a:endParaRPr lang="zh-CN" sz="2900" dirty="0"/>
          </a:p>
        </p:txBody>
      </p:sp>
      <p:sp>
        <p:nvSpPr>
          <p:cNvPr id="4" name="Text 1"/>
          <p:cNvSpPr/>
          <p:nvPr/>
        </p:nvSpPr>
        <p:spPr>
          <a:xfrm>
            <a:off x="734200" y="1803202"/>
            <a:ext cx="676099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目标客户：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中小学、教育局、体育局、青少年活动中心、体教融合项目。</a:t>
            </a:r>
            <a:endParaRPr lang="zh-CN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341" y="2195909"/>
            <a:ext cx="4921127" cy="22522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17454" y="3923221"/>
            <a:ext cx="923893" cy="1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学期评价</a:t>
            </a:r>
            <a:endParaRPr lang="zh-CN" sz="950" dirty="0"/>
          </a:p>
        </p:txBody>
      </p:sp>
      <p:sp>
        <p:nvSpPr>
          <p:cNvPr id="7" name="Text 3"/>
          <p:cNvSpPr/>
          <p:nvPr/>
        </p:nvSpPr>
        <p:spPr>
          <a:xfrm>
            <a:off x="3953095" y="3923221"/>
            <a:ext cx="923893" cy="1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课后</a:t>
            </a:r>
            <a:endParaRPr lang="zh-CN" sz="950" dirty="0"/>
          </a:p>
        </p:txBody>
      </p:sp>
      <p:sp>
        <p:nvSpPr>
          <p:cNvPr id="8" name="Text 4"/>
          <p:cNvSpPr/>
          <p:nvPr/>
        </p:nvSpPr>
        <p:spPr>
          <a:xfrm>
            <a:off x="2795065" y="3923221"/>
            <a:ext cx="923893" cy="1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课中</a:t>
            </a:r>
            <a:endParaRPr lang="zh-CN" sz="950" dirty="0"/>
          </a:p>
        </p:txBody>
      </p:sp>
      <p:sp>
        <p:nvSpPr>
          <p:cNvPr id="9" name="Text 5"/>
          <p:cNvSpPr/>
          <p:nvPr/>
        </p:nvSpPr>
        <p:spPr>
          <a:xfrm>
            <a:off x="1611723" y="3923221"/>
            <a:ext cx="923893" cy="158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课前</a:t>
            </a:r>
            <a:endParaRPr lang="zh-CN" sz="950" dirty="0"/>
          </a:p>
        </p:txBody>
      </p:sp>
      <p:sp>
        <p:nvSpPr>
          <p:cNvPr id="10" name="Text 6"/>
          <p:cNvSpPr/>
          <p:nvPr/>
        </p:nvSpPr>
        <p:spPr>
          <a:xfrm>
            <a:off x="734200" y="4733429"/>
            <a:ext cx="287102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管理看板</a:t>
            </a:r>
            <a:endParaRPr lang="zh-CN" sz="1450" dirty="0"/>
          </a:p>
        </p:txBody>
      </p:sp>
      <p:sp>
        <p:nvSpPr>
          <p:cNvPr id="11" name="Text 7"/>
          <p:cNvSpPr/>
          <p:nvPr/>
        </p:nvSpPr>
        <p:spPr>
          <a:xfrm>
            <a:off x="734200" y="5100836"/>
            <a:ext cx="2871021" cy="81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0000"/>
              </a:lnSpc>
              <a:buSzPct val="100000"/>
              <a:buChar char="•"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课程开展与参与人数</a:t>
            </a:r>
            <a:endParaRPr lang="zh-CN" sz="1300" dirty="0"/>
          </a:p>
          <a:p>
            <a:pPr algn="l" marL="264160" indent="-264160">
              <a:lnSpc>
                <a:spcPct val="120000"/>
              </a:lnSpc>
              <a:buSzPct val="100000"/>
              <a:buChar char="•"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能力分布与设备使用</a:t>
            </a:r>
            <a:endParaRPr lang="zh-CN" sz="1300" dirty="0"/>
          </a:p>
          <a:p>
            <a:pPr algn="l" marL="264160" indent="-264160">
              <a:lnSpc>
                <a:spcPct val="120000"/>
              </a:lnSpc>
              <a:buSzPct val="100000"/>
              <a:buChar char="•"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项目验收数据看板</a:t>
            </a:r>
            <a:endParaRPr lang="zh-CN" sz="1300" dirty="0"/>
          </a:p>
        </p:txBody>
      </p:sp>
      <p:sp>
        <p:nvSpPr>
          <p:cNvPr id="12" name="Text 8"/>
          <p:cNvSpPr/>
          <p:nvPr/>
        </p:nvSpPr>
        <p:spPr>
          <a:xfrm>
            <a:off x="4020938" y="4733429"/>
            <a:ext cx="287102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边界声明</a:t>
            </a:r>
            <a:endParaRPr lang="zh-CN" sz="1450" dirty="0"/>
          </a:p>
        </p:txBody>
      </p:sp>
      <p:sp>
        <p:nvSpPr>
          <p:cNvPr id="13" name="Text 9"/>
          <p:cNvSpPr/>
          <p:nvPr/>
        </p:nvSpPr>
        <p:spPr>
          <a:xfrm>
            <a:off x="4020938" y="5100836"/>
            <a:ext cx="2871021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作为专项教学、过程性评价和体质健康监测的专项能力补充，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不替代法定国家学生体质健康测试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。AI辅助教师分析，最终判断权由教师保留。</a:t>
            </a:r>
            <a:endParaRPr lang="zh-CN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03647"/>
            <a:ext cx="10723294" cy="218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机构方案：把资深教练经验沉淀为标准化、可复购的服务</a:t>
            </a:r>
            <a:endParaRPr lang="zh-CN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158" y="900212"/>
            <a:ext cx="4486758" cy="254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35605" y="1600895"/>
            <a:ext cx="3628140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核心功能</a:t>
            </a:r>
            <a:endParaRPr lang="zh-CN" sz="650" dirty="0"/>
          </a:p>
        </p:txBody>
      </p:sp>
      <p:sp>
        <p:nvSpPr>
          <p:cNvPr id="5" name="Text 2"/>
          <p:cNvSpPr/>
          <p:nvPr/>
        </p:nvSpPr>
        <p:spPr>
          <a:xfrm>
            <a:off x="7835605" y="1739900"/>
            <a:ext cx="3628140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多机位同步；人体与轮滑鞋三维重建</a:t>
            </a:r>
            <a:endParaRPr lang="zh-CN" sz="600" dirty="0"/>
          </a:p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动作分类与阶段；关节角度、轨迹、鞋体方向、左右对称</a:t>
            </a:r>
            <a:endParaRPr lang="zh-CN" sz="600" dirty="0"/>
          </a:p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标准动作对比；教练批注与语音讲解</a:t>
            </a:r>
            <a:endParaRPr lang="zh-CN" sz="600" dirty="0"/>
          </a:p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学员成长档案；家长简版报告</a:t>
            </a:r>
            <a:endParaRPr lang="zh-CN" sz="600" dirty="0"/>
          </a:p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班级、升班和复测管理</a:t>
            </a:r>
            <a:endParaRPr lang="zh-CN" sz="600" dirty="0"/>
          </a:p>
        </p:txBody>
      </p:sp>
      <p:sp>
        <p:nvSpPr>
          <p:cNvPr id="6" name="Text 3"/>
          <p:cNvSpPr/>
          <p:nvPr/>
        </p:nvSpPr>
        <p:spPr>
          <a:xfrm>
            <a:off x="7835605" y="2244328"/>
            <a:ext cx="3628140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机构价值</a:t>
            </a:r>
            <a:endParaRPr lang="zh-CN" sz="650" dirty="0"/>
          </a:p>
        </p:txBody>
      </p:sp>
      <p:sp>
        <p:nvSpPr>
          <p:cNvPr id="7" name="Text 4"/>
          <p:cNvSpPr/>
          <p:nvPr/>
        </p:nvSpPr>
        <p:spPr>
          <a:xfrm>
            <a:off x="7835605" y="2383334"/>
            <a:ext cx="3628140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减少逐帧复盘和重复讲解，统一教练评价语言</a:t>
            </a:r>
            <a:endParaRPr lang="zh-CN" sz="600" dirty="0"/>
          </a:p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让家长看见学会什么、进步多少、下一步练什么</a:t>
            </a:r>
            <a:endParaRPr lang="zh-CN" sz="600" dirty="0"/>
          </a:p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增强续费、升班和竞赛训练的客观依据</a:t>
            </a:r>
            <a:endParaRPr lang="zh-CN" sz="600" dirty="0"/>
          </a:p>
          <a:p>
            <a:pPr algn="l" marL="121920" indent="-121920">
              <a:lnSpc>
                <a:spcPct val="92000"/>
              </a:lnSpc>
              <a:buSzPct val="100000"/>
              <a:buChar char="•"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形成SaaS、动作包、融合设备和传感器持续收入</a:t>
            </a:r>
            <a:endParaRPr lang="zh-CN" sz="600" dirty="0"/>
          </a:p>
        </p:txBody>
      </p:sp>
      <p:sp>
        <p:nvSpPr>
          <p:cNvPr id="8" name="Text 5"/>
          <p:cNvSpPr/>
          <p:nvPr/>
        </p:nvSpPr>
        <p:spPr>
          <a:xfrm>
            <a:off x="734200" y="3520281"/>
            <a:ext cx="10723294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试点合作流程</a:t>
            </a:r>
            <a:endParaRPr lang="zh-CN" sz="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00" y="3674070"/>
            <a:ext cx="394186" cy="472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7953" y="3752850"/>
            <a:ext cx="10299542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样例验证</a:t>
            </a:r>
            <a:endParaRPr lang="zh-CN" sz="650" dirty="0"/>
          </a:p>
        </p:txBody>
      </p:sp>
      <p:sp>
        <p:nvSpPr>
          <p:cNvPr id="11" name="Text 7"/>
          <p:cNvSpPr/>
          <p:nvPr/>
        </p:nvSpPr>
        <p:spPr>
          <a:xfrm>
            <a:off x="1157953" y="3880048"/>
            <a:ext cx="10299542" cy="86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场景适配确认</a:t>
            </a:r>
            <a:endParaRPr lang="zh-CN" sz="6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4147046"/>
            <a:ext cx="394186" cy="472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57953" y="4225826"/>
            <a:ext cx="10299542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签约部署</a:t>
            </a:r>
            <a:endParaRPr lang="zh-CN" sz="650" dirty="0"/>
          </a:p>
        </p:txBody>
      </p:sp>
      <p:sp>
        <p:nvSpPr>
          <p:cNvPr id="14" name="Text 9"/>
          <p:cNvSpPr/>
          <p:nvPr/>
        </p:nvSpPr>
        <p:spPr>
          <a:xfrm>
            <a:off x="1157953" y="4353024"/>
            <a:ext cx="10299542" cy="86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系统部署与培训</a:t>
            </a:r>
            <a:endParaRPr lang="zh-CN" sz="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0" y="4620022"/>
            <a:ext cx="394186" cy="4729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57953" y="4698802"/>
            <a:ext cx="10299542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8—12周使用</a:t>
            </a:r>
            <a:endParaRPr lang="zh-CN" sz="650" dirty="0"/>
          </a:p>
        </p:txBody>
      </p:sp>
      <p:sp>
        <p:nvSpPr>
          <p:cNvPr id="17" name="Text 11"/>
          <p:cNvSpPr/>
          <p:nvPr/>
        </p:nvSpPr>
        <p:spPr>
          <a:xfrm>
            <a:off x="1157953" y="4826000"/>
            <a:ext cx="10299542" cy="86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实际教学运营</a:t>
            </a:r>
            <a:endParaRPr lang="zh-CN" sz="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0" y="5092998"/>
            <a:ext cx="394186" cy="47297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57953" y="5171777"/>
            <a:ext cx="10299542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效果复盘</a:t>
            </a:r>
            <a:endParaRPr lang="zh-CN" sz="650" dirty="0"/>
          </a:p>
        </p:txBody>
      </p:sp>
      <p:sp>
        <p:nvSpPr>
          <p:cNvPr id="20" name="Text 13"/>
          <p:cNvSpPr/>
          <p:nvPr/>
        </p:nvSpPr>
        <p:spPr>
          <a:xfrm>
            <a:off x="1157953" y="5298976"/>
            <a:ext cx="10299542" cy="86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数据驱动评估</a:t>
            </a:r>
            <a:endParaRPr lang="zh-CN" sz="6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00" y="5565973"/>
            <a:ext cx="394186" cy="47297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57953" y="5644753"/>
            <a:ext cx="10299542" cy="10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年度合同</a:t>
            </a:r>
            <a:endParaRPr lang="zh-CN" sz="650" dirty="0"/>
          </a:p>
        </p:txBody>
      </p:sp>
      <p:sp>
        <p:nvSpPr>
          <p:cNvPr id="23" name="Text 15"/>
          <p:cNvSpPr/>
          <p:nvPr/>
        </p:nvSpPr>
        <p:spPr>
          <a:xfrm>
            <a:off x="1157953" y="5771952"/>
            <a:ext cx="10299542" cy="86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zh-CN" altLang="en-US" sz="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增购与续费</a:t>
            </a:r>
            <a:endParaRPr lang="zh-CN" sz="600" dirty="0"/>
          </a:p>
        </p:txBody>
      </p:sp>
      <p:sp>
        <p:nvSpPr>
          <p:cNvPr id="24" name="Shape 16"/>
          <p:cNvSpPr/>
          <p:nvPr/>
        </p:nvSpPr>
        <p:spPr>
          <a:xfrm>
            <a:off x="734200" y="6072188"/>
            <a:ext cx="10723294" cy="182166"/>
          </a:xfrm>
          <a:prstGeom prst="roundRect">
            <a:avLst>
              <a:gd name="adj" fmla="val 49999"/>
            </a:avLst>
          </a:prstGeom>
          <a:solidFill>
            <a:srgbClr val="00805A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78" y="6121400"/>
            <a:ext cx="98522" cy="7878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90278" y="6121400"/>
            <a:ext cx="10998024" cy="86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zh-CN" altLang="en-US" sz="6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AI辅助教练分析动作数据，最终评价判断权由教练保留。所有分析结果仅供教学参考，不作医疗诊断或伤病预测。</a:t>
            </a:r>
            <a:endParaRPr lang="zh-CN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83419"/>
            <a:ext cx="10723294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C端平台：手机单摄负责低门槛，3D跟练负责理解，传感器负责高频</a:t>
            </a:r>
            <a:endParaRPr lang="zh-CN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296888"/>
            <a:ext cx="1416411" cy="875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2300784"/>
            <a:ext cx="348874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手机单摄</a:t>
            </a:r>
            <a:endParaRPr lang="zh-CN" sz="1250" dirty="0"/>
          </a:p>
        </p:txBody>
      </p:sp>
      <p:sp>
        <p:nvSpPr>
          <p:cNvPr id="5" name="Text 2"/>
          <p:cNvSpPr/>
          <p:nvPr/>
        </p:nvSpPr>
        <p:spPr>
          <a:xfrm>
            <a:off x="734200" y="2566392"/>
            <a:ext cx="3488742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动作自动识别、次数、基础姿态、器材方向、阶段、节奏、标准动作相似度、关键错误、训练前后对比</a:t>
            </a:r>
            <a:endParaRPr lang="zh-CN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427" y="1296888"/>
            <a:ext cx="1416411" cy="8754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1427" y="2300784"/>
            <a:ext cx="348874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3D教学与跟练</a:t>
            </a:r>
            <a:endParaRPr lang="zh-CN" sz="1250" dirty="0"/>
          </a:p>
        </p:txBody>
      </p:sp>
      <p:sp>
        <p:nvSpPr>
          <p:cNvPr id="8" name="Text 4"/>
          <p:cNvSpPr/>
          <p:nvPr/>
        </p:nvSpPr>
        <p:spPr>
          <a:xfrm>
            <a:off x="4351427" y="2566392"/>
            <a:ext cx="3488742" cy="79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正侧背与俯视切换、自由旋转、慢放、分阶段、骨架与器材方向、重心轨迹、正确与错误对比、教练语音同步；动作匹配、阶段对齐、节奏判断、完成度，每次只提示1—3个最关键问题</a:t>
            </a:r>
            <a:endParaRPr lang="zh-CN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654" y="1296888"/>
            <a:ext cx="1416411" cy="8754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68654" y="2300784"/>
            <a:ext cx="348874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传感器增强</a:t>
            </a:r>
            <a:endParaRPr lang="zh-CN" sz="1250" dirty="0"/>
          </a:p>
        </p:txBody>
      </p:sp>
      <p:sp>
        <p:nvSpPr>
          <p:cNvPr id="11" name="Text 6"/>
          <p:cNvSpPr/>
          <p:nvPr/>
        </p:nvSpPr>
        <p:spPr>
          <a:xfrm>
            <a:off x="7968654" y="2566392"/>
            <a:ext cx="3488742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无需每次架设摄像头，承接高频训练、次数、阶段、节奏、稳定性和部分错误模式</a:t>
            </a:r>
            <a:endParaRPr lang="zh-CN" sz="1150" dirty="0"/>
          </a:p>
        </p:txBody>
      </p:sp>
      <p:sp>
        <p:nvSpPr>
          <p:cNvPr id="12" name="Text 7"/>
          <p:cNvSpPr/>
          <p:nvPr/>
        </p:nvSpPr>
        <p:spPr>
          <a:xfrm>
            <a:off x="734200" y="3583285"/>
            <a:ext cx="684473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用户成长旅程</a:t>
            </a:r>
            <a:endParaRPr lang="zh-CN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0890" y="3902869"/>
            <a:ext cx="4791253" cy="2156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482675" y="4059215"/>
            <a:ext cx="838432" cy="11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免费体验</a:t>
            </a:r>
            <a:endParaRPr lang="zh-CN" sz="700" dirty="0"/>
          </a:p>
        </p:txBody>
      </p:sp>
      <p:sp>
        <p:nvSpPr>
          <p:cNvPr id="15" name="Text 9"/>
          <p:cNvSpPr/>
          <p:nvPr/>
        </p:nvSpPr>
        <p:spPr>
          <a:xfrm>
            <a:off x="2482675" y="4211242"/>
            <a:ext cx="838432" cy="8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zh-CN" alt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尝试基础内容与示范</a:t>
            </a:r>
            <a:endParaRPr lang="zh-CN" sz="650" dirty="0"/>
          </a:p>
        </p:txBody>
      </p:sp>
      <p:sp>
        <p:nvSpPr>
          <p:cNvPr id="16" name="Text 10"/>
          <p:cNvSpPr/>
          <p:nvPr/>
        </p:nvSpPr>
        <p:spPr>
          <a:xfrm>
            <a:off x="3311894" y="5676233"/>
            <a:ext cx="843039" cy="11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手机单摄</a:t>
            </a:r>
            <a:endParaRPr lang="zh-CN" sz="700" dirty="0"/>
          </a:p>
        </p:txBody>
      </p:sp>
      <p:sp>
        <p:nvSpPr>
          <p:cNvPr id="17" name="Text 11"/>
          <p:cNvSpPr/>
          <p:nvPr/>
        </p:nvSpPr>
        <p:spPr>
          <a:xfrm>
            <a:off x="3311894" y="5828260"/>
            <a:ext cx="843039" cy="8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zh-CN" alt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低门槛动作识别与反馈</a:t>
            </a:r>
            <a:endParaRPr lang="zh-CN" sz="650" dirty="0"/>
          </a:p>
        </p:txBody>
      </p:sp>
      <p:sp>
        <p:nvSpPr>
          <p:cNvPr id="18" name="Text 12"/>
          <p:cNvSpPr/>
          <p:nvPr/>
        </p:nvSpPr>
        <p:spPr>
          <a:xfrm>
            <a:off x="4131899" y="4043091"/>
            <a:ext cx="838432" cy="11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会员订阅</a:t>
            </a:r>
            <a:endParaRPr lang="zh-CN" sz="700" dirty="0"/>
          </a:p>
        </p:txBody>
      </p:sp>
      <p:sp>
        <p:nvSpPr>
          <p:cNvPr id="19" name="Text 13"/>
          <p:cNvSpPr/>
          <p:nvPr/>
        </p:nvSpPr>
        <p:spPr>
          <a:xfrm>
            <a:off x="4131899" y="4195118"/>
            <a:ext cx="838432" cy="8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zh-CN" alt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高级课程与个性化路径</a:t>
            </a:r>
            <a:endParaRPr lang="zh-CN" sz="650" dirty="0"/>
          </a:p>
        </p:txBody>
      </p:sp>
      <p:sp>
        <p:nvSpPr>
          <p:cNvPr id="20" name="Text 14"/>
          <p:cNvSpPr/>
          <p:nvPr/>
        </p:nvSpPr>
        <p:spPr>
          <a:xfrm>
            <a:off x="4961118" y="5676233"/>
            <a:ext cx="838432" cy="11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zh-CN" altLang="en-US" sz="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传感器硬件</a:t>
            </a:r>
            <a:endParaRPr lang="zh-CN" sz="700" dirty="0"/>
          </a:p>
        </p:txBody>
      </p:sp>
      <p:sp>
        <p:nvSpPr>
          <p:cNvPr id="21" name="Text 15"/>
          <p:cNvSpPr/>
          <p:nvPr/>
        </p:nvSpPr>
        <p:spPr>
          <a:xfrm>
            <a:off x="4961118" y="5828260"/>
            <a:ext cx="838432" cy="88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9000"/>
              </a:lnSpc>
              <a:buNone/>
            </a:pPr>
            <a:r>
              <a:rPr lang="zh-CN" altLang="en-US" sz="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高频精准数据采集</a:t>
            </a:r>
            <a:endParaRPr lang="zh-CN" sz="650" dirty="0"/>
          </a:p>
        </p:txBody>
      </p:sp>
      <p:sp>
        <p:nvSpPr>
          <p:cNvPr id="22" name="Text 16"/>
          <p:cNvSpPr/>
          <p:nvPr/>
        </p:nvSpPr>
        <p:spPr>
          <a:xfrm>
            <a:off x="7943453" y="4379813"/>
            <a:ext cx="3520292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边界声明</a:t>
            </a:r>
            <a:endParaRPr lang="zh-CN" sz="1250" dirty="0"/>
          </a:p>
        </p:txBody>
      </p:sp>
      <p:sp>
        <p:nvSpPr>
          <p:cNvPr id="23" name="Text 17"/>
          <p:cNvSpPr/>
          <p:nvPr/>
        </p:nvSpPr>
        <p:spPr>
          <a:xfrm>
            <a:off x="7943453" y="4686598"/>
            <a:ext cx="3520292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zh-CN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无法可靠判断时，系统主动提示补拍、视觉复测或专业分析，</a:t>
            </a:r>
            <a:pPr algn="l" indent="0" marL="0">
              <a:lnSpc>
                <a:spcPct val="113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不强行评分</a:t>
            </a:r>
            <a:pPr algn="l" indent="0" marL="0">
              <a:lnSpc>
                <a:spcPct val="113000"/>
              </a:lnSpc>
              <a:buNone/>
            </a:pPr>
            <a:r>
              <a:rPr lang="zh-CN" alt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。AI辅助用户理解动作，最终判断权由教师或教练保留。</a:t>
            </a:r>
            <a:endParaRPr lang="zh-CN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11584"/>
            <a:ext cx="1072329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核心技术不是单一骨架识别，而是"人体—器材—地面"联合理解</a:t>
            </a:r>
            <a:endParaRPr lang="zh-CN" sz="2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699816"/>
            <a:ext cx="4125512" cy="4125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06881" y="1413272"/>
            <a:ext cx="5156964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各层说明</a:t>
            </a:r>
            <a:endParaRPr lang="zh-CN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7831" y="1778397"/>
            <a:ext cx="2513644" cy="11305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12754" y="1797447"/>
            <a:ext cx="228872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输入层</a:t>
            </a:r>
            <a:endParaRPr lang="zh-CN" sz="1450" dirty="0"/>
          </a:p>
        </p:txBody>
      </p:sp>
      <p:sp>
        <p:nvSpPr>
          <p:cNvPr id="7" name="Text 3"/>
          <p:cNvSpPr/>
          <p:nvPr/>
        </p:nvSpPr>
        <p:spPr>
          <a:xfrm>
            <a:off x="6512754" y="2164854"/>
            <a:ext cx="2288721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单摄、多机位、IMU或快拆传感器、人体与器材参数</a:t>
            </a:r>
            <a:endParaRPr lang="zh-CN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0200" y="1778397"/>
            <a:ext cx="2513644" cy="11305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75124" y="1797447"/>
            <a:ext cx="228872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视觉层</a:t>
            </a:r>
            <a:endParaRPr lang="zh-CN" sz="1450" dirty="0"/>
          </a:p>
        </p:txBody>
      </p:sp>
      <p:sp>
        <p:nvSpPr>
          <p:cNvPr id="10" name="Text 5"/>
          <p:cNvSpPr/>
          <p:nvPr/>
        </p:nvSpPr>
        <p:spPr>
          <a:xfrm>
            <a:off x="9175124" y="2164854"/>
            <a:ext cx="2288721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人体关键点、轮滑鞋或器材检测、相机标定、多视角融合、时序跟踪</a:t>
            </a:r>
            <a:endParaRPr lang="zh-CN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7831" y="3139380"/>
            <a:ext cx="2513644" cy="18556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12754" y="3158430"/>
            <a:ext cx="228872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专项建模层</a:t>
            </a:r>
            <a:endParaRPr lang="zh-CN" sz="1450" dirty="0"/>
          </a:p>
        </p:txBody>
      </p:sp>
      <p:sp>
        <p:nvSpPr>
          <p:cNvPr id="13" name="Text 7"/>
          <p:cNvSpPr/>
          <p:nvPr/>
        </p:nvSpPr>
        <p:spPr>
          <a:xfrm>
            <a:off x="6512754" y="3525838"/>
            <a:ext cx="2288721" cy="1208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身体、足部、左右轮滑鞋统一多连杆模型；鞋体世界朝向反约束足踝和小腿；轮轴方向候选与全片时序连续选择；符合滑行特性的地面和滚动关系</a:t>
            </a:r>
            <a:endParaRPr lang="zh-CN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50200" y="3139380"/>
            <a:ext cx="2513644" cy="18556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75124" y="3158430"/>
            <a:ext cx="2288721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高阶估算层</a:t>
            </a:r>
            <a:endParaRPr lang="zh-CN" sz="1450" dirty="0"/>
          </a:p>
        </p:txBody>
      </p:sp>
      <p:sp>
        <p:nvSpPr>
          <p:cNvPr id="16" name="Text 9"/>
          <p:cNvSpPr/>
          <p:nvPr/>
        </p:nvSpPr>
        <p:spPr>
          <a:xfrm>
            <a:off x="9175124" y="3525838"/>
            <a:ext cx="2288721" cy="1450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基于运动生物力学模型的估算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：关节力矩、功率、地面反作用力趋势、肌群贡献、肌肉力变化趋势和运动负荷。</a:t>
            </a:r>
            <a:pPr algn="l" indent="0" marL="0">
              <a:lnSpc>
                <a:spcPct val="120000"/>
              </a:lnSpc>
              <a:buNone/>
            </a:pPr>
            <a:r>
              <a:rPr lang="zh-CN" altLang="en-US" sz="13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不得表述为摄像头直接测量，不作医疗诊断或伤病预测。</a:t>
            </a:r>
            <a:endParaRPr lang="zh-CN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7831" y="5225455"/>
            <a:ext cx="5176013" cy="88890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512754" y="5244505"/>
            <a:ext cx="4951090" cy="23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4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结果治理</a:t>
            </a:r>
            <a:endParaRPr lang="zh-CN" sz="1450" dirty="0"/>
          </a:p>
        </p:txBody>
      </p:sp>
      <p:sp>
        <p:nvSpPr>
          <p:cNvPr id="19" name="Text 11"/>
          <p:cNvSpPr/>
          <p:nvPr/>
        </p:nvSpPr>
        <p:spPr>
          <a:xfrm>
            <a:off x="6512754" y="5611912"/>
            <a:ext cx="4951090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输入质量、置信度、模型版本、适用范围、未知拒绝、教师或教练审核。AI辅助分析，最终判断权由教师或教练保留。</a:t>
            </a:r>
            <a:endParaRPr lang="zh-CN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09501"/>
            <a:ext cx="10723294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三阶段路线：视觉建立认知，融合建立真值，传感器实现普及</a:t>
            </a:r>
            <a:endParaRPr lang="zh-CN" sz="1900" dirty="0"/>
          </a:p>
        </p:txBody>
      </p:sp>
      <p:sp>
        <p:nvSpPr>
          <p:cNvPr id="3" name="Shape 1"/>
          <p:cNvSpPr/>
          <p:nvPr/>
        </p:nvSpPr>
        <p:spPr>
          <a:xfrm>
            <a:off x="6089498" y="1023838"/>
            <a:ext cx="12700" cy="2439194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0387" y="1139726"/>
            <a:ext cx="325925" cy="12700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</p:sp>
      <p:sp>
        <p:nvSpPr>
          <p:cNvPr id="5" name="Shape 3"/>
          <p:cNvSpPr/>
          <p:nvPr/>
        </p:nvSpPr>
        <p:spPr>
          <a:xfrm>
            <a:off x="5973613" y="1023838"/>
            <a:ext cx="244469" cy="24447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23420" y="1055539"/>
            <a:ext cx="14485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4200" y="1061145"/>
            <a:ext cx="4818339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阶段一｜视觉动作认知与数字教学MVP</a:t>
            </a:r>
            <a:endParaRPr lang="zh-CN" sz="950" dirty="0"/>
          </a:p>
        </p:txBody>
      </p:sp>
      <p:sp>
        <p:nvSpPr>
          <p:cNvPr id="8" name="Text 6"/>
          <p:cNvSpPr/>
          <p:nvPr/>
        </p:nvSpPr>
        <p:spPr>
          <a:xfrm>
            <a:off x="734200" y="1245791"/>
            <a:ext cx="481833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1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2026.09—2027.08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4200" y="1411387"/>
            <a:ext cx="4818339" cy="889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独立真值与测试集建立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5—8个核心轮滑动作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机构多机位V1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校园MVP与C端单摄Beta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10—20个3D教学单元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传感器同步规范与工程原型</a:t>
            </a:r>
            <a:endParaRPr lang="zh-CN" sz="850" dirty="0"/>
          </a:p>
        </p:txBody>
      </p:sp>
      <p:sp>
        <p:nvSpPr>
          <p:cNvPr id="10" name="Shape 8"/>
          <p:cNvSpPr/>
          <p:nvPr/>
        </p:nvSpPr>
        <p:spPr>
          <a:xfrm>
            <a:off x="6205382" y="1686917"/>
            <a:ext cx="325925" cy="12700"/>
          </a:xfrm>
          <a:prstGeom prst="roundRect">
            <a:avLst>
              <a:gd name="adj" fmla="val 49999"/>
            </a:avLst>
          </a:prstGeom>
          <a:solidFill>
            <a:srgbClr val="29DDDA"/>
          </a:solidFill>
          <a:ln/>
        </p:spPr>
      </p:sp>
      <p:sp>
        <p:nvSpPr>
          <p:cNvPr id="11" name="Shape 9"/>
          <p:cNvSpPr/>
          <p:nvPr/>
        </p:nvSpPr>
        <p:spPr>
          <a:xfrm>
            <a:off x="5973613" y="1571030"/>
            <a:ext cx="244469" cy="24447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23420" y="1602730"/>
            <a:ext cx="14485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39156" y="1608336"/>
            <a:ext cx="4818339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阶段二｜视觉—传感融合与自动监督</a:t>
            </a:r>
            <a:endParaRPr lang="zh-CN" sz="950" dirty="0"/>
          </a:p>
        </p:txBody>
      </p:sp>
      <p:sp>
        <p:nvSpPr>
          <p:cNvPr id="14" name="Text 12"/>
          <p:cNvSpPr/>
          <p:nvPr/>
        </p:nvSpPr>
        <p:spPr>
          <a:xfrm>
            <a:off x="6639156" y="1792982"/>
            <a:ext cx="481833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2027.09—2028.08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639156" y="1958578"/>
            <a:ext cx="4818339" cy="737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时间同步、坐标统一、遮挡补偿、漂移处理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高频指标采集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动作/阶段/错误自动标签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教师—学生模型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专业融合版发布</a:t>
            </a:r>
            <a:endParaRPr lang="zh-CN" sz="850" dirty="0"/>
          </a:p>
        </p:txBody>
      </p:sp>
      <p:sp>
        <p:nvSpPr>
          <p:cNvPr id="16" name="Shape 14"/>
          <p:cNvSpPr/>
          <p:nvPr/>
        </p:nvSpPr>
        <p:spPr>
          <a:xfrm>
            <a:off x="5660387" y="2529185"/>
            <a:ext cx="325925" cy="12700"/>
          </a:xfrm>
          <a:prstGeom prst="roundRect">
            <a:avLst>
              <a:gd name="adj" fmla="val 49999"/>
            </a:avLst>
          </a:prstGeom>
          <a:solidFill>
            <a:srgbClr val="37A7E7"/>
          </a:solidFill>
          <a:ln/>
        </p:spPr>
      </p:sp>
      <p:sp>
        <p:nvSpPr>
          <p:cNvPr id="17" name="Shape 15"/>
          <p:cNvSpPr/>
          <p:nvPr/>
        </p:nvSpPr>
        <p:spPr>
          <a:xfrm>
            <a:off x="5973613" y="2413298"/>
            <a:ext cx="244469" cy="244475"/>
          </a:xfrm>
          <a:prstGeom prst="ellipse">
            <a:avLst/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23420" y="2444998"/>
            <a:ext cx="144856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4200" y="2450604"/>
            <a:ext cx="4818339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阶段三｜单快拆传感器产品化</a:t>
            </a:r>
            <a:endParaRPr lang="zh-CN" sz="950" dirty="0"/>
          </a:p>
        </p:txBody>
      </p:sp>
      <p:sp>
        <p:nvSpPr>
          <p:cNvPr id="20" name="Text 18"/>
          <p:cNvSpPr/>
          <p:nvPr/>
        </p:nvSpPr>
        <p:spPr>
          <a:xfrm>
            <a:off x="734200" y="2635250"/>
            <a:ext cx="4818339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1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2028.09—2029.08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4200" y="2800846"/>
            <a:ext cx="4818339" cy="586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动作分类、分期、节奏、稳定性和部分错误模式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自动安装姿态检测、快速校准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蓝牙、低功耗、防护、OTA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小批量量产</a:t>
            </a:r>
            <a:endParaRPr lang="zh-CN" sz="850" dirty="0"/>
          </a:p>
        </p:txBody>
      </p:sp>
      <p:sp>
        <p:nvSpPr>
          <p:cNvPr id="22" name="Text 20"/>
          <p:cNvSpPr/>
          <p:nvPr/>
        </p:nvSpPr>
        <p:spPr>
          <a:xfrm>
            <a:off x="734200" y="3582591"/>
            <a:ext cx="5229094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长期拓展路径</a:t>
            </a:r>
            <a:endParaRPr lang="zh-CN" sz="950" dirty="0"/>
          </a:p>
        </p:txBody>
      </p:sp>
      <p:sp>
        <p:nvSpPr>
          <p:cNvPr id="23" name="Text 21"/>
          <p:cNvSpPr/>
          <p:nvPr/>
        </p:nvSpPr>
        <p:spPr>
          <a:xfrm>
            <a:off x="734200" y="3789759"/>
            <a:ext cx="5229094" cy="263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轮滑闭环后，逐步推出滑板、滑冰、滑雪专项模型包，通用底座能力持续复用，形成滑行运动数字体育基础设施。</a:t>
            </a:r>
            <a:endParaRPr lang="zh-CN" sz="850" dirty="0"/>
          </a:p>
        </p:txBody>
      </p:sp>
      <p:sp>
        <p:nvSpPr>
          <p:cNvPr id="24" name="Shape 22"/>
          <p:cNvSpPr/>
          <p:nvPr/>
        </p:nvSpPr>
        <p:spPr>
          <a:xfrm>
            <a:off x="734200" y="4116784"/>
            <a:ext cx="434666" cy="65196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0027" y="4340920"/>
            <a:ext cx="162913" cy="2036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225122" y="4225429"/>
            <a:ext cx="4738172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轮滑闭环</a:t>
            </a:r>
            <a:endParaRPr lang="zh-CN" sz="950" dirty="0"/>
          </a:p>
        </p:txBody>
      </p:sp>
      <p:sp>
        <p:nvSpPr>
          <p:cNvPr id="27" name="Text 25"/>
          <p:cNvSpPr/>
          <p:nvPr/>
        </p:nvSpPr>
        <p:spPr>
          <a:xfrm>
            <a:off x="1225122" y="4432598"/>
            <a:ext cx="4738172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完成三阶段，建立垂直壁垒</a:t>
            </a:r>
            <a:endParaRPr lang="zh-CN" sz="850" dirty="0"/>
          </a:p>
        </p:txBody>
      </p:sp>
      <p:sp>
        <p:nvSpPr>
          <p:cNvPr id="28" name="Shape 26"/>
          <p:cNvSpPr/>
          <p:nvPr/>
        </p:nvSpPr>
        <p:spPr>
          <a:xfrm>
            <a:off x="734200" y="4825008"/>
            <a:ext cx="434666" cy="65196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0027" y="5049143"/>
            <a:ext cx="162913" cy="2036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25122" y="4933652"/>
            <a:ext cx="4738172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滑板/滑冰拓展</a:t>
            </a:r>
            <a:endParaRPr lang="zh-CN" sz="950" dirty="0"/>
          </a:p>
        </p:txBody>
      </p:sp>
      <p:sp>
        <p:nvSpPr>
          <p:cNvPr id="31" name="Text 29"/>
          <p:cNvSpPr/>
          <p:nvPr/>
        </p:nvSpPr>
        <p:spPr>
          <a:xfrm>
            <a:off x="1225122" y="5140821"/>
            <a:ext cx="4738172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复用通用底座，推出专项模型包</a:t>
            </a:r>
            <a:endParaRPr lang="zh-CN" sz="850" dirty="0"/>
          </a:p>
        </p:txBody>
      </p:sp>
      <p:sp>
        <p:nvSpPr>
          <p:cNvPr id="32" name="Shape 30"/>
          <p:cNvSpPr/>
          <p:nvPr/>
        </p:nvSpPr>
        <p:spPr>
          <a:xfrm>
            <a:off x="734200" y="5533231"/>
            <a:ext cx="434666" cy="651966"/>
          </a:xfrm>
          <a:prstGeom prst="roundRect">
            <a:avLst>
              <a:gd name="adj" fmla="val 50000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0027" y="5757366"/>
            <a:ext cx="162913" cy="2036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225122" y="5641876"/>
            <a:ext cx="4738172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滑雪及更多</a:t>
            </a:r>
            <a:endParaRPr lang="zh-CN" sz="950" dirty="0"/>
          </a:p>
        </p:txBody>
      </p:sp>
      <p:sp>
        <p:nvSpPr>
          <p:cNvPr id="35" name="Text 33"/>
          <p:cNvSpPr/>
          <p:nvPr/>
        </p:nvSpPr>
        <p:spPr>
          <a:xfrm>
            <a:off x="1225122" y="5849045"/>
            <a:ext cx="4738172" cy="131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平台化运营，覆盖更广滑行运动</a:t>
            </a:r>
            <a:endParaRPr lang="zh-CN" sz="850" dirty="0"/>
          </a:p>
        </p:txBody>
      </p:sp>
      <p:sp>
        <p:nvSpPr>
          <p:cNvPr id="36" name="Shape 34"/>
          <p:cNvSpPr/>
          <p:nvPr/>
        </p:nvSpPr>
        <p:spPr>
          <a:xfrm>
            <a:off x="6234750" y="3589635"/>
            <a:ext cx="5229094" cy="550962"/>
          </a:xfrm>
          <a:prstGeom prst="roundRect">
            <a:avLst>
              <a:gd name="adj" fmla="val 29585"/>
            </a:avLst>
          </a:prstGeom>
          <a:solidFill>
            <a:srgbClr val="00805A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3392" y="3685778"/>
            <a:ext cx="135827" cy="108645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587861" y="3667323"/>
            <a:ext cx="4767342" cy="395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zh-CN" alt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严格区分：已完成、在研、待验证、规划和基准情景预测。不虚构用户、客户、营收、合作、团队履历或知识产权。缺失处显示【待补真实证据】。AI画面仅作概念视觉，不伪装为真实产品截图、试点学校或客户。</a:t>
            </a:r>
            <a:endParaRPr lang="zh-CN" sz="850" dirty="0"/>
          </a:p>
        </p:txBody>
      </p:sp>
      <p:sp>
        <p:nvSpPr>
          <p:cNvPr id="39" name="Text 36"/>
          <p:cNvSpPr/>
          <p:nvPr/>
        </p:nvSpPr>
        <p:spPr>
          <a:xfrm>
            <a:off x="6234750" y="4203898"/>
            <a:ext cx="5229094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核心原则</a:t>
            </a:r>
            <a:endParaRPr lang="zh-CN" sz="950" dirty="0"/>
          </a:p>
        </p:txBody>
      </p:sp>
      <p:sp>
        <p:nvSpPr>
          <p:cNvPr id="40" name="Text 37"/>
          <p:cNvSpPr/>
          <p:nvPr/>
        </p:nvSpPr>
        <p:spPr>
          <a:xfrm>
            <a:off x="6234750" y="4411067"/>
            <a:ext cx="5229094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AI辅助教师和教练，最终判断权由教师或教练保留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高阶指标均为基于运动生物力学模型的估算，不作医疗诊断或伤病预测</a:t>
            </a:r>
            <a:endParaRPr lang="zh-CN" sz="850" dirty="0"/>
          </a:p>
          <a:p>
            <a:pPr algn="l" marL="172720" indent="-172720">
              <a:lnSpc>
                <a:spcPct val="101000"/>
              </a:lnSpc>
              <a:buSzPct val="100000"/>
              <a:buChar char="•"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每阶段设置可验证退出条件，确保技术路线可信</a:t>
            </a:r>
            <a:endParaRPr lang="zh-CN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1919387"/>
            <a:ext cx="6151409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跨模态数据飞轮</a:t>
            </a:r>
            <a:endParaRPr lang="zh-CN" sz="3650" dirty="0"/>
          </a:p>
        </p:txBody>
      </p:sp>
      <p:sp>
        <p:nvSpPr>
          <p:cNvPr id="4" name="Text 1"/>
          <p:cNvSpPr/>
          <p:nvPr/>
        </p:nvSpPr>
        <p:spPr>
          <a:xfrm>
            <a:off x="5306086" y="2585938"/>
            <a:ext cx="615140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用视觉降低传感器动作标注成本</a:t>
            </a:r>
            <a:endParaRPr lang="zh-CN" sz="1800" dirty="0"/>
          </a:p>
        </p:txBody>
      </p:sp>
      <p:sp>
        <p:nvSpPr>
          <p:cNvPr id="5" name="Text 2"/>
          <p:cNvSpPr/>
          <p:nvPr/>
        </p:nvSpPr>
        <p:spPr>
          <a:xfrm>
            <a:off x="5306086" y="3191966"/>
            <a:ext cx="6760993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智轮星途 · 滑行运动AI数字体育基础设施 · 第11页</a:t>
            </a:r>
            <a:endParaRPr lang="zh-CN" sz="1650" dirty="0"/>
          </a:p>
        </p:txBody>
      </p:sp>
      <p:sp>
        <p:nvSpPr>
          <p:cNvPr id="6" name="Shape 3"/>
          <p:cNvSpPr/>
          <p:nvPr/>
        </p:nvSpPr>
        <p:spPr>
          <a:xfrm>
            <a:off x="5306086" y="3763665"/>
            <a:ext cx="6151409" cy="1174849"/>
          </a:xfrm>
          <a:prstGeom prst="roundRect">
            <a:avLst>
              <a:gd name="adj" fmla="val 26786"/>
            </a:avLst>
          </a:prstGeom>
          <a:solidFill>
            <a:srgbClr val="0080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829" y="4064496"/>
            <a:ext cx="262229" cy="2097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7801" y="4025801"/>
            <a:ext cx="5259950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zh-CN" altLang="en-US" sz="16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核心理念：视觉输出不是绝对真值，标签必须携带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6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置信度、版本和审核状态</a:t>
            </a:r>
            <a:pPr algn="l" indent="0" marL="0">
              <a:lnSpc>
                <a:spcPct val="133000"/>
              </a:lnSpc>
              <a:buNone/>
            </a:pPr>
            <a:r>
              <a:rPr lang="zh-CN" altLang="en-US" sz="16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。</a:t>
            </a:r>
            <a:endParaRPr lang="zh-CN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4200" y="584696"/>
            <a:ext cx="10723294" cy="33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跨模态数据飞轮：八步闭环流程</a:t>
            </a:r>
            <a:endParaRPr lang="zh-CN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264" y="1062633"/>
            <a:ext cx="6663067" cy="2612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23812" y="1190737"/>
            <a:ext cx="1219720" cy="34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视频与传感器同步采集</a:t>
            </a:r>
            <a:endParaRPr lang="zh-CN" sz="1050" dirty="0"/>
          </a:p>
        </p:txBody>
      </p:sp>
      <p:sp>
        <p:nvSpPr>
          <p:cNvPr id="5" name="Text 2"/>
          <p:cNvSpPr/>
          <p:nvPr/>
        </p:nvSpPr>
        <p:spPr>
          <a:xfrm>
            <a:off x="8047943" y="1190737"/>
            <a:ext cx="1219720" cy="34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视觉识别动作与阶段</a:t>
            </a:r>
            <a:endParaRPr lang="zh-CN" sz="1050" dirty="0"/>
          </a:p>
        </p:txBody>
      </p:sp>
      <p:sp>
        <p:nvSpPr>
          <p:cNvPr id="6" name="Text 3"/>
          <p:cNvSpPr/>
          <p:nvPr/>
        </p:nvSpPr>
        <p:spPr>
          <a:xfrm>
            <a:off x="8047943" y="3198098"/>
            <a:ext cx="1219720" cy="34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多源融合一致性校验</a:t>
            </a:r>
            <a:endParaRPr lang="zh-CN" sz="1050" dirty="0"/>
          </a:p>
        </p:txBody>
      </p:sp>
      <p:sp>
        <p:nvSpPr>
          <p:cNvPr id="7" name="Text 4"/>
          <p:cNvSpPr/>
          <p:nvPr/>
        </p:nvSpPr>
        <p:spPr>
          <a:xfrm>
            <a:off x="2923812" y="3198098"/>
            <a:ext cx="1219720" cy="34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自动生成传感器训练标签</a:t>
            </a:r>
            <a:endParaRPr lang="zh-CN" sz="1050" dirty="0"/>
          </a:p>
        </p:txBody>
      </p:sp>
      <p:sp>
        <p:nvSpPr>
          <p:cNvPr id="8" name="Text 5"/>
          <p:cNvSpPr/>
          <p:nvPr/>
        </p:nvSpPr>
        <p:spPr>
          <a:xfrm>
            <a:off x="734200" y="3824089"/>
            <a:ext cx="5213517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真正壁垒（缺一不可）</a:t>
            </a:r>
            <a:endParaRPr lang="zh-CN" sz="1050" dirty="0"/>
          </a:p>
        </p:txBody>
      </p:sp>
      <p:sp>
        <p:nvSpPr>
          <p:cNvPr id="9" name="Shape 6"/>
          <p:cNvSpPr/>
          <p:nvPr/>
        </p:nvSpPr>
        <p:spPr>
          <a:xfrm>
            <a:off x="734200" y="4071838"/>
            <a:ext cx="2571586" cy="436959"/>
          </a:xfrm>
          <a:prstGeom prst="roundRect">
            <a:avLst>
              <a:gd name="adj" fmla="val 41693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341" y="4205982"/>
            <a:ext cx="2303306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动作标准</a:t>
            </a:r>
            <a:endParaRPr lang="zh-CN" sz="1050" dirty="0"/>
          </a:p>
        </p:txBody>
      </p:sp>
      <p:sp>
        <p:nvSpPr>
          <p:cNvPr id="11" name="Shape 8"/>
          <p:cNvSpPr/>
          <p:nvPr/>
        </p:nvSpPr>
        <p:spPr>
          <a:xfrm>
            <a:off x="3376032" y="4071838"/>
            <a:ext cx="2571686" cy="436959"/>
          </a:xfrm>
          <a:prstGeom prst="roundRect">
            <a:avLst>
              <a:gd name="adj" fmla="val 41693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10172" y="4205982"/>
            <a:ext cx="2303405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同步视觉/传感器数据</a:t>
            </a:r>
            <a:endParaRPr lang="zh-CN" sz="1050" dirty="0"/>
          </a:p>
        </p:txBody>
      </p:sp>
      <p:sp>
        <p:nvSpPr>
          <p:cNvPr id="13" name="Shape 10"/>
          <p:cNvSpPr/>
          <p:nvPr/>
        </p:nvSpPr>
        <p:spPr>
          <a:xfrm>
            <a:off x="734200" y="4579045"/>
            <a:ext cx="2571586" cy="436959"/>
          </a:xfrm>
          <a:prstGeom prst="roundRect">
            <a:avLst>
              <a:gd name="adj" fmla="val 41693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341" y="4713188"/>
            <a:ext cx="2303306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困难样本</a:t>
            </a:r>
            <a:endParaRPr lang="zh-CN" sz="1050" dirty="0"/>
          </a:p>
        </p:txBody>
      </p:sp>
      <p:sp>
        <p:nvSpPr>
          <p:cNvPr id="15" name="Shape 12"/>
          <p:cNvSpPr/>
          <p:nvPr/>
        </p:nvSpPr>
        <p:spPr>
          <a:xfrm>
            <a:off x="3376032" y="4579045"/>
            <a:ext cx="2571686" cy="436959"/>
          </a:xfrm>
          <a:prstGeom prst="roundRect">
            <a:avLst>
              <a:gd name="adj" fmla="val 41693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0172" y="4713188"/>
            <a:ext cx="2303405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教练审核</a:t>
            </a:r>
            <a:endParaRPr lang="zh-CN" sz="1050" dirty="0"/>
          </a:p>
        </p:txBody>
      </p:sp>
      <p:sp>
        <p:nvSpPr>
          <p:cNvPr id="17" name="Shape 14"/>
          <p:cNvSpPr/>
          <p:nvPr/>
        </p:nvSpPr>
        <p:spPr>
          <a:xfrm>
            <a:off x="734200" y="5095081"/>
            <a:ext cx="2571586" cy="436959"/>
          </a:xfrm>
          <a:prstGeom prst="roundRect">
            <a:avLst>
              <a:gd name="adj" fmla="val 41693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341" y="5229225"/>
            <a:ext cx="2303306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自动标签系统</a:t>
            </a:r>
            <a:endParaRPr lang="zh-CN" sz="1050" dirty="0"/>
          </a:p>
        </p:txBody>
      </p:sp>
      <p:sp>
        <p:nvSpPr>
          <p:cNvPr id="19" name="Shape 16"/>
          <p:cNvSpPr/>
          <p:nvPr/>
        </p:nvSpPr>
        <p:spPr>
          <a:xfrm>
            <a:off x="3376032" y="5095081"/>
            <a:ext cx="2571686" cy="436959"/>
          </a:xfrm>
          <a:prstGeom prst="roundRect">
            <a:avLst>
              <a:gd name="adj" fmla="val 41693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10172" y="5229225"/>
            <a:ext cx="2303405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传感器模型</a:t>
            </a:r>
            <a:endParaRPr lang="zh-CN" sz="1050" dirty="0"/>
          </a:p>
        </p:txBody>
      </p:sp>
      <p:sp>
        <p:nvSpPr>
          <p:cNvPr id="21" name="Shape 18"/>
          <p:cNvSpPr/>
          <p:nvPr/>
        </p:nvSpPr>
        <p:spPr>
          <a:xfrm>
            <a:off x="734200" y="5602288"/>
            <a:ext cx="2571586" cy="436959"/>
          </a:xfrm>
          <a:prstGeom prst="roundRect">
            <a:avLst>
              <a:gd name="adj" fmla="val 41693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341" y="5736431"/>
            <a:ext cx="2303306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3D课程</a:t>
            </a:r>
            <a:endParaRPr lang="zh-CN" sz="1050" dirty="0"/>
          </a:p>
        </p:txBody>
      </p:sp>
      <p:sp>
        <p:nvSpPr>
          <p:cNvPr id="23" name="Shape 20"/>
          <p:cNvSpPr/>
          <p:nvPr/>
        </p:nvSpPr>
        <p:spPr>
          <a:xfrm>
            <a:off x="3376032" y="5602288"/>
            <a:ext cx="2571686" cy="436959"/>
          </a:xfrm>
          <a:prstGeom prst="roundRect">
            <a:avLst>
              <a:gd name="adj" fmla="val 41693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10172" y="5736431"/>
            <a:ext cx="2303405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真实用户网络</a:t>
            </a:r>
            <a:endParaRPr lang="zh-CN" sz="1050" dirty="0"/>
          </a:p>
        </p:txBody>
      </p:sp>
      <p:sp>
        <p:nvSpPr>
          <p:cNvPr id="25" name="Text 22"/>
          <p:cNvSpPr/>
          <p:nvPr/>
        </p:nvSpPr>
        <p:spPr>
          <a:xfrm>
            <a:off x="6250327" y="3824089"/>
            <a:ext cx="5213517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关键设计原则</a:t>
            </a:r>
            <a:endParaRPr lang="zh-CN" sz="105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0327" y="4071838"/>
            <a:ext cx="5213517" cy="66059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435266" y="4205982"/>
            <a:ext cx="4894438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置信度标注</a:t>
            </a:r>
            <a:endParaRPr lang="zh-CN" sz="1050" dirty="0"/>
          </a:p>
        </p:txBody>
      </p:sp>
      <p:sp>
        <p:nvSpPr>
          <p:cNvPr id="28" name="Text 24"/>
          <p:cNvSpPr/>
          <p:nvPr/>
        </p:nvSpPr>
        <p:spPr>
          <a:xfrm>
            <a:off x="6435266" y="4444901"/>
            <a:ext cx="4894438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每个标签必须携带置信度分值，不得以视觉输出直接替代真值。</a:t>
            </a:r>
            <a:endParaRPr lang="zh-CN" sz="9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0327" y="4802684"/>
            <a:ext cx="5213517" cy="66059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35266" y="4936827"/>
            <a:ext cx="4894438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版本管理</a:t>
            </a:r>
            <a:endParaRPr lang="zh-CN" sz="1050" dirty="0"/>
          </a:p>
        </p:txBody>
      </p:sp>
      <p:sp>
        <p:nvSpPr>
          <p:cNvPr id="31" name="Text 26"/>
          <p:cNvSpPr/>
          <p:nvPr/>
        </p:nvSpPr>
        <p:spPr>
          <a:xfrm>
            <a:off x="6435266" y="5175746"/>
            <a:ext cx="4894438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标签须记录版本号，支持回溯与消融实验。</a:t>
            </a:r>
            <a:endParaRPr lang="zh-CN" sz="95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0327" y="5533529"/>
            <a:ext cx="5213517" cy="66059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35266" y="5667673"/>
            <a:ext cx="4894438" cy="16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审核状态</a:t>
            </a:r>
            <a:endParaRPr lang="zh-CN" sz="1050" dirty="0"/>
          </a:p>
        </p:txBody>
      </p:sp>
      <p:sp>
        <p:nvSpPr>
          <p:cNvPr id="34" name="Text 28"/>
          <p:cNvSpPr/>
          <p:nvPr/>
        </p:nvSpPr>
        <p:spPr>
          <a:xfrm>
            <a:off x="6435266" y="5906591"/>
            <a:ext cx="4894438" cy="153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zh-CN" alt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低置信度或冲突样本必须经教练或专家人工审核后方可入库。</a:t>
            </a:r>
            <a:endParaRPr lang="zh-CN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34200" y="666254"/>
            <a:ext cx="10723294" cy="422672"/>
          </a:xfrm>
          <a:prstGeom prst="roundRect">
            <a:avLst>
              <a:gd name="adj" fmla="val 48396"/>
            </a:avLst>
          </a:prstGeom>
          <a:solidFill>
            <a:srgbClr val="45070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24" y="796528"/>
            <a:ext cx="170454" cy="1363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7300" y="788888"/>
            <a:ext cx="10753456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⚠</a:t>
            </a:r>
            <a:pPr algn="l" indent="0" marL="0">
              <a:lnSpc>
                <a:spcPct val="110000"/>
              </a:lnSpc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 DO_NOT_PROMOTE</a:t>
            </a:r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——影子优化尚未进入正式主链、正式评分或AQA。严禁将内部测试包装为客户效果。</a:t>
            </a:r>
            <a:endParaRPr lang="zh-CN" sz="1050" dirty="0"/>
          </a:p>
        </p:txBody>
      </p:sp>
      <p:sp>
        <p:nvSpPr>
          <p:cNvPr id="5" name="Text 2"/>
          <p:cNvSpPr/>
          <p:nvPr/>
        </p:nvSpPr>
        <p:spPr>
          <a:xfrm>
            <a:off x="734200" y="1221879"/>
            <a:ext cx="10723294" cy="37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当前技术基础：已完成 vs 待补齐</a:t>
            </a:r>
            <a:endParaRPr lang="zh-CN" sz="2350" dirty="0"/>
          </a:p>
        </p:txBody>
      </p:sp>
      <p:sp>
        <p:nvSpPr>
          <p:cNvPr id="6" name="Text 3"/>
          <p:cNvSpPr/>
          <p:nvPr/>
        </p:nvSpPr>
        <p:spPr>
          <a:xfrm>
            <a:off x="734200" y="1822152"/>
            <a:ext cx="5195361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已完成 / 已形成</a:t>
            </a:r>
            <a:endParaRPr lang="zh-CN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2117527"/>
            <a:ext cx="2553331" cy="9484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5771" y="2272903"/>
            <a:ext cx="21663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真实多机位轮滑视频链路</a:t>
            </a:r>
            <a:endParaRPr lang="zh-CN" sz="1150" dirty="0"/>
          </a:p>
        </p:txBody>
      </p:sp>
      <p:sp>
        <p:nvSpPr>
          <p:cNvPr id="9" name="Text 5"/>
          <p:cNvSpPr/>
          <p:nvPr/>
        </p:nvSpPr>
        <p:spPr>
          <a:xfrm>
            <a:off x="965771" y="2550815"/>
            <a:ext cx="2166387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1,320帧内部验证片段</a:t>
            </a:r>
            <a:endParaRPr lang="zh-CN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6131" y="2117527"/>
            <a:ext cx="2553430" cy="9484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07702" y="2272903"/>
            <a:ext cx="216648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统一19段多连杆建模</a:t>
            </a:r>
            <a:endParaRPr lang="zh-CN" sz="1150" dirty="0"/>
          </a:p>
        </p:txBody>
      </p:sp>
      <p:sp>
        <p:nvSpPr>
          <p:cNvPr id="12" name="Text 7"/>
          <p:cNvSpPr/>
          <p:nvPr/>
        </p:nvSpPr>
        <p:spPr>
          <a:xfrm>
            <a:off x="3607702" y="2550815"/>
            <a:ext cx="2166486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人体、足部、左右轮滑鞋；鞋体反约束足踝与小腿</a:t>
            </a:r>
            <a:endParaRPr lang="zh-CN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200" y="3154561"/>
            <a:ext cx="2553331" cy="9484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5771" y="3309937"/>
            <a:ext cx="216638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轮轴候选与动态规划</a:t>
            </a:r>
            <a:endParaRPr lang="zh-CN" sz="1150" dirty="0"/>
          </a:p>
        </p:txBody>
      </p:sp>
      <p:sp>
        <p:nvSpPr>
          <p:cNvPr id="15" name="Text 9"/>
          <p:cNvSpPr/>
          <p:nvPr/>
        </p:nvSpPr>
        <p:spPr>
          <a:xfrm>
            <a:off x="965771" y="3587849"/>
            <a:ext cx="2166387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轮轴θ与θ+π候选及全片动态规划；滚动地面模型不采用零速度锁地</a:t>
            </a:r>
            <a:endParaRPr lang="zh-CN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76131" y="3154561"/>
            <a:ext cx="2553430" cy="9484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607702" y="3309937"/>
            <a:ext cx="216648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受保护基线</a:t>
            </a:r>
            <a:endParaRPr lang="zh-CN" sz="1150" dirty="0"/>
          </a:p>
        </p:txBody>
      </p:sp>
      <p:sp>
        <p:nvSpPr>
          <p:cNvPr id="18" name="Text 11"/>
          <p:cNvSpPr/>
          <p:nvPr/>
        </p:nvSpPr>
        <p:spPr>
          <a:xfrm>
            <a:off x="3607702" y="3587849"/>
            <a:ext cx="2166486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1,488个文件、约1.392GB；changed/missing/added = 0/0/0</a:t>
            </a:r>
            <a:endParaRPr lang="zh-CN" sz="1050" dirty="0"/>
          </a:p>
        </p:txBody>
      </p:sp>
      <p:sp>
        <p:nvSpPr>
          <p:cNvPr id="19" name="Text 12"/>
          <p:cNvSpPr/>
          <p:nvPr/>
        </p:nvSpPr>
        <p:spPr>
          <a:xfrm>
            <a:off x="734200" y="4202708"/>
            <a:ext cx="51953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内部审计数据</a:t>
            </a:r>
            <a:endParaRPr lang="zh-CN" sz="1150" dirty="0"/>
          </a:p>
        </p:txBody>
      </p:sp>
      <p:sp>
        <p:nvSpPr>
          <p:cNvPr id="20" name="Shape 13"/>
          <p:cNvSpPr/>
          <p:nvPr/>
        </p:nvSpPr>
        <p:spPr>
          <a:xfrm>
            <a:off x="734200" y="4491732"/>
            <a:ext cx="2553331" cy="755848"/>
          </a:xfrm>
          <a:prstGeom prst="roundRect">
            <a:avLst>
              <a:gd name="adj" fmla="val 27063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83223" y="4640759"/>
            <a:ext cx="22552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16.97%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83223" y="4918670"/>
            <a:ext cx="225528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左轮滑鞋直接观测覆盖</a:t>
            </a:r>
            <a:endParaRPr lang="zh-CN" sz="1050" dirty="0"/>
          </a:p>
        </p:txBody>
      </p:sp>
      <p:sp>
        <p:nvSpPr>
          <p:cNvPr id="23" name="Shape 16"/>
          <p:cNvSpPr/>
          <p:nvPr/>
        </p:nvSpPr>
        <p:spPr>
          <a:xfrm>
            <a:off x="3376131" y="4491732"/>
            <a:ext cx="2553430" cy="755848"/>
          </a:xfrm>
          <a:prstGeom prst="roundRect">
            <a:avLst>
              <a:gd name="adj" fmla="val 27063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3525154" y="4640759"/>
            <a:ext cx="22553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54.62%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3525154" y="4918670"/>
            <a:ext cx="225538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右轮滑鞋直接观测覆盖</a:t>
            </a:r>
            <a:endParaRPr lang="zh-CN" sz="1050" dirty="0"/>
          </a:p>
        </p:txBody>
      </p:sp>
      <p:sp>
        <p:nvSpPr>
          <p:cNvPr id="26" name="Shape 19"/>
          <p:cNvSpPr/>
          <p:nvPr/>
        </p:nvSpPr>
        <p:spPr>
          <a:xfrm>
            <a:off x="734200" y="5336183"/>
            <a:ext cx="2553331" cy="755848"/>
          </a:xfrm>
          <a:prstGeom prst="roundRect">
            <a:avLst>
              <a:gd name="adj" fmla="val 27063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83223" y="5485209"/>
            <a:ext cx="225528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7A7E7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67/67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83223" y="5763121"/>
            <a:ext cx="2255285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针对性测试通过</a:t>
            </a:r>
            <a:endParaRPr lang="zh-CN" sz="1050" dirty="0"/>
          </a:p>
        </p:txBody>
      </p:sp>
      <p:sp>
        <p:nvSpPr>
          <p:cNvPr id="29" name="Shape 22"/>
          <p:cNvSpPr/>
          <p:nvPr/>
        </p:nvSpPr>
        <p:spPr>
          <a:xfrm>
            <a:off x="3376131" y="5336183"/>
            <a:ext cx="2553430" cy="755848"/>
          </a:xfrm>
          <a:prstGeom prst="roundRect">
            <a:avLst>
              <a:gd name="adj" fmla="val 27063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525154" y="5485209"/>
            <a:ext cx="22553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29DDDA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1项</a:t>
            </a:r>
            <a:endParaRPr lang="zh-CN" sz="1150" dirty="0"/>
          </a:p>
        </p:txBody>
      </p:sp>
      <p:sp>
        <p:nvSpPr>
          <p:cNvPr id="31" name="Text 24"/>
          <p:cNvSpPr/>
          <p:nvPr/>
        </p:nvSpPr>
        <p:spPr>
          <a:xfrm>
            <a:off x="3525154" y="5763121"/>
            <a:ext cx="225538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368项测试中仍有既有失败</a:t>
            </a:r>
            <a:endParaRPr lang="zh-CN" sz="1050" dirty="0"/>
          </a:p>
        </p:txBody>
      </p:sp>
      <p:sp>
        <p:nvSpPr>
          <p:cNvPr id="32" name="Text 25"/>
          <p:cNvSpPr/>
          <p:nvPr/>
        </p:nvSpPr>
        <p:spPr>
          <a:xfrm>
            <a:off x="6268484" y="1822152"/>
            <a:ext cx="5195361" cy="195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进入正式产品前必须补齐</a:t>
            </a:r>
            <a:endParaRPr lang="zh-CN" sz="1150" dirty="0"/>
          </a:p>
        </p:txBody>
      </p:sp>
      <p:sp>
        <p:nvSpPr>
          <p:cNvPr id="33" name="Shape 26"/>
          <p:cNvSpPr/>
          <p:nvPr/>
        </p:nvSpPr>
        <p:spPr>
          <a:xfrm>
            <a:off x="6268484" y="2117527"/>
            <a:ext cx="306777" cy="306784"/>
          </a:xfrm>
          <a:prstGeom prst="ellipse">
            <a:avLst/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330990" y="2157313"/>
            <a:ext cx="181764" cy="22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6663861" y="2164358"/>
            <a:ext cx="47999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独立真值</a:t>
            </a:r>
            <a:endParaRPr lang="zh-CN" sz="1150" dirty="0"/>
          </a:p>
        </p:txBody>
      </p:sp>
      <p:sp>
        <p:nvSpPr>
          <p:cNvPr id="36" name="Text 29"/>
          <p:cNvSpPr/>
          <p:nvPr/>
        </p:nvSpPr>
        <p:spPr>
          <a:xfrm>
            <a:off x="6663861" y="2442270"/>
            <a:ext cx="479998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需建立独立于内部系统的外部真值基准</a:t>
            </a:r>
            <a:endParaRPr lang="zh-CN" sz="1050" dirty="0"/>
          </a:p>
        </p:txBody>
      </p:sp>
      <p:sp>
        <p:nvSpPr>
          <p:cNvPr id="37" name="Shape 30"/>
          <p:cNvSpPr/>
          <p:nvPr/>
        </p:nvSpPr>
        <p:spPr>
          <a:xfrm>
            <a:off x="6268484" y="2799358"/>
            <a:ext cx="306777" cy="306784"/>
          </a:xfrm>
          <a:prstGeom prst="ellipse">
            <a:avLst/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6330990" y="2839145"/>
            <a:ext cx="181764" cy="22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6663861" y="2846189"/>
            <a:ext cx="47999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人工动作和接触标注</a:t>
            </a:r>
            <a:endParaRPr lang="zh-CN" sz="1150" dirty="0"/>
          </a:p>
        </p:txBody>
      </p:sp>
      <p:sp>
        <p:nvSpPr>
          <p:cNvPr id="40" name="Text 33"/>
          <p:cNvSpPr/>
          <p:nvPr/>
        </p:nvSpPr>
        <p:spPr>
          <a:xfrm>
            <a:off x="6663861" y="3124101"/>
            <a:ext cx="479998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关键帧须经人工逐帧标注确认</a:t>
            </a:r>
            <a:endParaRPr lang="zh-CN" sz="1050" dirty="0"/>
          </a:p>
        </p:txBody>
      </p:sp>
      <p:sp>
        <p:nvSpPr>
          <p:cNvPr id="41" name="Shape 34"/>
          <p:cNvSpPr/>
          <p:nvPr/>
        </p:nvSpPr>
        <p:spPr>
          <a:xfrm>
            <a:off x="6268484" y="3481189"/>
            <a:ext cx="306777" cy="306784"/>
          </a:xfrm>
          <a:prstGeom prst="ellipse">
            <a:avLst/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330990" y="3520976"/>
            <a:ext cx="181764" cy="22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400" dirty="0"/>
          </a:p>
        </p:txBody>
      </p:sp>
      <p:sp>
        <p:nvSpPr>
          <p:cNvPr id="43" name="Text 36"/>
          <p:cNvSpPr/>
          <p:nvPr/>
        </p:nvSpPr>
        <p:spPr>
          <a:xfrm>
            <a:off x="6663861" y="3528020"/>
            <a:ext cx="47999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新针对性采集</a:t>
            </a:r>
            <a:endParaRPr lang="zh-CN" sz="1150" dirty="0"/>
          </a:p>
        </p:txBody>
      </p:sp>
      <p:sp>
        <p:nvSpPr>
          <p:cNvPr id="44" name="Text 37"/>
          <p:cNvSpPr/>
          <p:nvPr/>
        </p:nvSpPr>
        <p:spPr>
          <a:xfrm>
            <a:off x="6663861" y="3805932"/>
            <a:ext cx="479998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覆盖复杂转弯、推蹬、交叉步和制动场景</a:t>
            </a:r>
            <a:endParaRPr lang="zh-CN" sz="1050" dirty="0"/>
          </a:p>
        </p:txBody>
      </p:sp>
      <p:sp>
        <p:nvSpPr>
          <p:cNvPr id="45" name="Shape 38"/>
          <p:cNvSpPr/>
          <p:nvPr/>
        </p:nvSpPr>
        <p:spPr>
          <a:xfrm>
            <a:off x="6268484" y="4163020"/>
            <a:ext cx="306777" cy="306784"/>
          </a:xfrm>
          <a:prstGeom prst="ellipse">
            <a:avLst/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6330990" y="4202807"/>
            <a:ext cx="181764" cy="22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Text 40"/>
          <p:cNvSpPr/>
          <p:nvPr/>
        </p:nvSpPr>
        <p:spPr>
          <a:xfrm>
            <a:off x="6663861" y="4209852"/>
            <a:ext cx="47999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消融与回归测试</a:t>
            </a:r>
            <a:endParaRPr lang="zh-CN" sz="1150" dirty="0"/>
          </a:p>
        </p:txBody>
      </p:sp>
      <p:sp>
        <p:nvSpPr>
          <p:cNvPr id="48" name="Text 41"/>
          <p:cNvSpPr/>
          <p:nvPr/>
        </p:nvSpPr>
        <p:spPr>
          <a:xfrm>
            <a:off x="6663861" y="4487763"/>
            <a:ext cx="479998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系统性验证各模块贡献</a:t>
            </a:r>
            <a:endParaRPr lang="zh-CN" sz="1050" dirty="0"/>
          </a:p>
        </p:txBody>
      </p:sp>
      <p:sp>
        <p:nvSpPr>
          <p:cNvPr id="49" name="Shape 42"/>
          <p:cNvSpPr/>
          <p:nvPr/>
        </p:nvSpPr>
        <p:spPr>
          <a:xfrm>
            <a:off x="6268484" y="4844852"/>
            <a:ext cx="306777" cy="306784"/>
          </a:xfrm>
          <a:prstGeom prst="ellipse">
            <a:avLst/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6330990" y="4884638"/>
            <a:ext cx="181764" cy="2272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4"/>
          <p:cNvSpPr/>
          <p:nvPr/>
        </p:nvSpPr>
        <p:spPr>
          <a:xfrm>
            <a:off x="6663861" y="4891683"/>
            <a:ext cx="47999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教练审核与第三方验证</a:t>
            </a:r>
            <a:endParaRPr lang="zh-CN" sz="1150" dirty="0"/>
          </a:p>
        </p:txBody>
      </p:sp>
      <p:sp>
        <p:nvSpPr>
          <p:cNvPr id="52" name="Text 45"/>
          <p:cNvSpPr/>
          <p:nvPr/>
        </p:nvSpPr>
        <p:spPr>
          <a:xfrm>
            <a:off x="6663861" y="5169595"/>
            <a:ext cx="479998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专业教练和独立机构双重确认</a:t>
            </a:r>
            <a:endParaRPr lang="zh-CN" sz="1050" dirty="0"/>
          </a:p>
        </p:txBody>
      </p:sp>
      <p:sp>
        <p:nvSpPr>
          <p:cNvPr id="53" name="Shape 46"/>
          <p:cNvSpPr/>
          <p:nvPr/>
        </p:nvSpPr>
        <p:spPr>
          <a:xfrm>
            <a:off x="6268484" y="5449193"/>
            <a:ext cx="5195361" cy="587375"/>
          </a:xfrm>
          <a:prstGeom prst="roundRect">
            <a:avLst>
              <a:gd name="adj" fmla="val 34825"/>
            </a:avLst>
          </a:prstGeom>
          <a:solidFill>
            <a:srgbClr val="4B3F02"/>
          </a:solidFill>
          <a:ln/>
        </p:spPr>
      </p:sp>
      <p:pic>
        <p:nvPicPr>
          <p:cNvPr id="54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4807" y="5592167"/>
            <a:ext cx="170454" cy="136327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6711584" y="5562997"/>
            <a:ext cx="4615938" cy="35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当前结论：这些数据证明研发链路和问题识别能力，</a:t>
            </a:r>
            <a:pPr algn="l" indent="0" marL="0">
              <a:lnSpc>
                <a:spcPct val="110000"/>
              </a:lnSpc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不等于产品精度成立</a:t>
            </a:r>
            <a:pPr algn="l" indent="0" marL="0">
              <a:lnSpc>
                <a:spcPct val="110000"/>
              </a:lnSpc>
              <a:buNone/>
            </a:pPr>
            <a:r>
              <a:rPr lang="zh-CN" altLang="en-US" sz="10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。严禁把内部测试包装为客户效果。</a:t>
            </a:r>
            <a:endParaRPr lang="zh-CN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4200" y="612477"/>
            <a:ext cx="10723294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市场进入顺序：先用可控场景证明价值，再逐步放大G/B/C协同</a:t>
            </a:r>
            <a:endParaRPr lang="zh-CN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00" y="1961555"/>
            <a:ext cx="3387045" cy="3387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2907" y="1137642"/>
            <a:ext cx="5210938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进入路线（五步）</a:t>
            </a:r>
            <a:endParaRPr lang="zh-CN" sz="1050" dirty="0"/>
          </a:p>
        </p:txBody>
      </p:sp>
      <p:sp>
        <p:nvSpPr>
          <p:cNvPr id="5" name="Text 2"/>
          <p:cNvSpPr/>
          <p:nvPr/>
        </p:nvSpPr>
        <p:spPr>
          <a:xfrm>
            <a:off x="6252907" y="1391146"/>
            <a:ext cx="247148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252907" y="1588492"/>
            <a:ext cx="5210938" cy="127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7" name="Text 4"/>
          <p:cNvSpPr/>
          <p:nvPr/>
        </p:nvSpPr>
        <p:spPr>
          <a:xfrm>
            <a:off x="6252907" y="1675606"/>
            <a:ext cx="5210938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机构MVP</a:t>
            </a:r>
            <a:endParaRPr lang="zh-CN" sz="1050" dirty="0"/>
          </a:p>
        </p:txBody>
      </p:sp>
      <p:sp>
        <p:nvSpPr>
          <p:cNvPr id="8" name="Text 5"/>
          <p:cNvSpPr/>
          <p:nvPr/>
        </p:nvSpPr>
        <p:spPr>
          <a:xfrm>
            <a:off x="6252907" y="1919982"/>
            <a:ext cx="5210938" cy="15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有固定场地、稳定课时、愿意配合验证的轮滑机构</a:t>
            </a:r>
            <a:endParaRPr lang="zh-CN" sz="950" dirty="0"/>
          </a:p>
        </p:txBody>
      </p:sp>
      <p:sp>
        <p:nvSpPr>
          <p:cNvPr id="9" name="Text 6"/>
          <p:cNvSpPr/>
          <p:nvPr/>
        </p:nvSpPr>
        <p:spPr>
          <a:xfrm>
            <a:off x="6252907" y="2242443"/>
            <a:ext cx="247148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52907" y="2439789"/>
            <a:ext cx="5210938" cy="1270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1" name="Text 8"/>
          <p:cNvSpPr/>
          <p:nvPr/>
        </p:nvSpPr>
        <p:spPr>
          <a:xfrm>
            <a:off x="6252907" y="2526903"/>
            <a:ext cx="5210938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1—3所种子学校</a:t>
            </a:r>
            <a:endParaRPr lang="zh-CN" sz="1050" dirty="0"/>
          </a:p>
        </p:txBody>
      </p:sp>
      <p:sp>
        <p:nvSpPr>
          <p:cNvPr id="12" name="Text 9"/>
          <p:cNvSpPr/>
          <p:nvPr/>
        </p:nvSpPr>
        <p:spPr>
          <a:xfrm>
            <a:off x="6252907" y="2771279"/>
            <a:ext cx="5210938" cy="15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优先选择专业反馈能力强的学校</a:t>
            </a:r>
            <a:endParaRPr lang="zh-CN" sz="950" dirty="0"/>
          </a:p>
        </p:txBody>
      </p:sp>
      <p:sp>
        <p:nvSpPr>
          <p:cNvPr id="13" name="Text 10"/>
          <p:cNvSpPr/>
          <p:nvPr/>
        </p:nvSpPr>
        <p:spPr>
          <a:xfrm>
            <a:off x="6252907" y="3093740"/>
            <a:ext cx="247148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52907" y="3291086"/>
            <a:ext cx="5210938" cy="1270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5" name="Text 12"/>
          <p:cNvSpPr/>
          <p:nvPr/>
        </p:nvSpPr>
        <p:spPr>
          <a:xfrm>
            <a:off x="6252907" y="3378200"/>
            <a:ext cx="5210938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C端单摄</a:t>
            </a:r>
            <a:endParaRPr lang="zh-CN" sz="1050" dirty="0"/>
          </a:p>
        </p:txBody>
      </p:sp>
      <p:sp>
        <p:nvSpPr>
          <p:cNvPr id="16" name="Text 13"/>
          <p:cNvSpPr/>
          <p:nvPr/>
        </p:nvSpPr>
        <p:spPr>
          <a:xfrm>
            <a:off x="6252907" y="3622576"/>
            <a:ext cx="5210938" cy="15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面向学生、家长、成人爱好者</a:t>
            </a:r>
            <a:endParaRPr lang="zh-CN" sz="950" dirty="0"/>
          </a:p>
        </p:txBody>
      </p:sp>
      <p:sp>
        <p:nvSpPr>
          <p:cNvPr id="17" name="Text 14"/>
          <p:cNvSpPr/>
          <p:nvPr/>
        </p:nvSpPr>
        <p:spPr>
          <a:xfrm>
            <a:off x="6252907" y="3945037"/>
            <a:ext cx="247148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52907" y="4142383"/>
            <a:ext cx="5210938" cy="1270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9" name="Text 16"/>
          <p:cNvSpPr/>
          <p:nvPr/>
        </p:nvSpPr>
        <p:spPr>
          <a:xfrm>
            <a:off x="6252907" y="4229497"/>
            <a:ext cx="5210938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融合与传感器</a:t>
            </a:r>
            <a:endParaRPr lang="zh-CN" sz="1050" dirty="0"/>
          </a:p>
        </p:txBody>
      </p:sp>
      <p:sp>
        <p:nvSpPr>
          <p:cNvPr id="20" name="Text 17"/>
          <p:cNvSpPr/>
          <p:nvPr/>
        </p:nvSpPr>
        <p:spPr>
          <a:xfrm>
            <a:off x="6252907" y="4473873"/>
            <a:ext cx="5210938" cy="15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视觉—传感器融合产品规模化</a:t>
            </a:r>
            <a:endParaRPr lang="zh-CN" sz="950" dirty="0"/>
          </a:p>
        </p:txBody>
      </p:sp>
      <p:sp>
        <p:nvSpPr>
          <p:cNvPr id="21" name="Text 18"/>
          <p:cNvSpPr/>
          <p:nvPr/>
        </p:nvSpPr>
        <p:spPr>
          <a:xfrm>
            <a:off x="6252907" y="4796334"/>
            <a:ext cx="247148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52907" y="4993680"/>
            <a:ext cx="5210938" cy="1270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3" name="Text 20"/>
          <p:cNvSpPr/>
          <p:nvPr/>
        </p:nvSpPr>
        <p:spPr>
          <a:xfrm>
            <a:off x="6252907" y="5080794"/>
            <a:ext cx="5210938" cy="171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标准化后区域复制</a:t>
            </a:r>
            <a:endParaRPr lang="zh-CN" sz="1050" dirty="0"/>
          </a:p>
        </p:txBody>
      </p:sp>
      <p:sp>
        <p:nvSpPr>
          <p:cNvPr id="24" name="Text 21"/>
          <p:cNvSpPr/>
          <p:nvPr/>
        </p:nvSpPr>
        <p:spPr>
          <a:xfrm>
            <a:off x="6252907" y="5325170"/>
            <a:ext cx="5210938" cy="157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全国义务教育阶段学校约18.84万所</a:t>
            </a:r>
            <a:endParaRPr lang="zh-CN" sz="950" dirty="0"/>
          </a:p>
        </p:txBody>
      </p:sp>
      <p:sp>
        <p:nvSpPr>
          <p:cNvPr id="25" name="Shape 22"/>
          <p:cNvSpPr/>
          <p:nvPr/>
        </p:nvSpPr>
        <p:spPr>
          <a:xfrm>
            <a:off x="6252907" y="5656759"/>
            <a:ext cx="5210938" cy="506809"/>
          </a:xfrm>
          <a:prstGeom prst="roundRect">
            <a:avLst>
              <a:gd name="adj" fmla="val 36577"/>
            </a:avLst>
          </a:prstGeom>
          <a:solidFill>
            <a:srgbClr val="00805A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431" y="5772845"/>
            <a:ext cx="154480" cy="12352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654435" y="5753100"/>
            <a:ext cx="4685885" cy="314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市场口径：长期市场采用</a:t>
            </a:r>
            <a:pPr algn="l" indent="0" marL="0">
              <a:lnSpc>
                <a:spcPct val="106000"/>
              </a:lnSpc>
              <a:buNone/>
            </a:pPr>
            <a:r>
              <a:rPr lang="zh-CN" altLang="en-US" sz="9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客户数量×可实现客单价</a:t>
            </a:r>
            <a:pPr algn="l" indent="0" marL="0">
              <a:lnSpc>
                <a:spcPct val="106000"/>
              </a:lnSpc>
              <a:buNone/>
            </a:pPr>
            <a:r>
              <a:rPr lang="zh-CN" altLang="en-US" sz="9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的自下而上测算，不使用来源不明的百亿市场数字。</a:t>
            </a:r>
            <a:endParaRPr lang="zh-CN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4200" y="610295"/>
            <a:ext cx="10723294" cy="43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竞争优势：滑行专项、数据闭环与交付深度</a:t>
            </a:r>
            <a:endParaRPr lang="zh-CN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00" y="1797248"/>
            <a:ext cx="3877273" cy="38773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4082" y="1342330"/>
            <a:ext cx="5169763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智轮星途差异化定位</a:t>
            </a:r>
            <a:endParaRPr lang="zh-CN" sz="1350" dirty="0"/>
          </a:p>
        </p:txBody>
      </p:sp>
      <p:sp>
        <p:nvSpPr>
          <p:cNvPr id="5" name="Shape 2"/>
          <p:cNvSpPr/>
          <p:nvPr/>
        </p:nvSpPr>
        <p:spPr>
          <a:xfrm>
            <a:off x="6294082" y="1693565"/>
            <a:ext cx="2525848" cy="1719560"/>
          </a:xfrm>
          <a:prstGeom prst="roundRect">
            <a:avLst>
              <a:gd name="adj" fmla="val 13726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70389" y="1869877"/>
            <a:ext cx="471972" cy="471984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0164" y="1999555"/>
            <a:ext cx="212422" cy="2124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70389" y="2459831"/>
            <a:ext cx="2173233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滑行专项模型</a:t>
            </a:r>
            <a:endParaRPr lang="zh-CN" sz="1350" dirty="0"/>
          </a:p>
        </p:txBody>
      </p:sp>
      <p:sp>
        <p:nvSpPr>
          <p:cNvPr id="9" name="Text 5"/>
          <p:cNvSpPr/>
          <p:nvPr/>
        </p:nvSpPr>
        <p:spPr>
          <a:xfrm>
            <a:off x="6470389" y="2796282"/>
            <a:ext cx="2173233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针对轮滑器材与全身姿态的专项建模</a:t>
            </a:r>
            <a:endParaRPr lang="zh-CN" sz="1200" dirty="0"/>
          </a:p>
        </p:txBody>
      </p:sp>
      <p:sp>
        <p:nvSpPr>
          <p:cNvPr id="10" name="Shape 6"/>
          <p:cNvSpPr/>
          <p:nvPr/>
        </p:nvSpPr>
        <p:spPr>
          <a:xfrm>
            <a:off x="8937897" y="1693565"/>
            <a:ext cx="2525947" cy="1719560"/>
          </a:xfrm>
          <a:prstGeom prst="roundRect">
            <a:avLst>
              <a:gd name="adj" fmla="val 13726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9114205" y="1869877"/>
            <a:ext cx="471972" cy="471984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43980" y="1999555"/>
            <a:ext cx="212422" cy="2124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14205" y="2459831"/>
            <a:ext cx="2173332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人体—器材—地面联合建模</a:t>
            </a:r>
            <a:endParaRPr lang="zh-CN" sz="1350" dirty="0"/>
          </a:p>
        </p:txBody>
      </p:sp>
      <p:sp>
        <p:nvSpPr>
          <p:cNvPr id="14" name="Text 9"/>
          <p:cNvSpPr/>
          <p:nvPr/>
        </p:nvSpPr>
        <p:spPr>
          <a:xfrm>
            <a:off x="9114205" y="2796282"/>
            <a:ext cx="2173332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19段多连杆统一建模，鞋体反约束</a:t>
            </a:r>
            <a:endParaRPr lang="zh-CN" sz="1200" dirty="0"/>
          </a:p>
        </p:txBody>
      </p:sp>
      <p:sp>
        <p:nvSpPr>
          <p:cNvPr id="15" name="Shape 10"/>
          <p:cNvSpPr/>
          <p:nvPr/>
        </p:nvSpPr>
        <p:spPr>
          <a:xfrm>
            <a:off x="6294082" y="3531096"/>
            <a:ext cx="2525848" cy="1719560"/>
          </a:xfrm>
          <a:prstGeom prst="roundRect">
            <a:avLst>
              <a:gd name="adj" fmla="val 13726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70389" y="3707408"/>
            <a:ext cx="471972" cy="471984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0164" y="3837087"/>
            <a:ext cx="212422" cy="2124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70389" y="4297363"/>
            <a:ext cx="2173233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视觉教师＋融合自动标注</a:t>
            </a:r>
            <a:endParaRPr lang="zh-CN" sz="1350" dirty="0"/>
          </a:p>
        </p:txBody>
      </p:sp>
      <p:sp>
        <p:nvSpPr>
          <p:cNvPr id="19" name="Text 13"/>
          <p:cNvSpPr/>
          <p:nvPr/>
        </p:nvSpPr>
        <p:spPr>
          <a:xfrm>
            <a:off x="6470389" y="4633813"/>
            <a:ext cx="2173233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降低传感器标注成本的核心飞轮</a:t>
            </a:r>
            <a:endParaRPr lang="zh-CN" sz="1200" dirty="0"/>
          </a:p>
        </p:txBody>
      </p:sp>
      <p:sp>
        <p:nvSpPr>
          <p:cNvPr id="20" name="Shape 14"/>
          <p:cNvSpPr/>
          <p:nvPr/>
        </p:nvSpPr>
        <p:spPr>
          <a:xfrm>
            <a:off x="8937897" y="3531096"/>
            <a:ext cx="2525947" cy="1719560"/>
          </a:xfrm>
          <a:prstGeom prst="roundRect">
            <a:avLst>
              <a:gd name="adj" fmla="val 13726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114205" y="3707408"/>
            <a:ext cx="471972" cy="471984"/>
          </a:xfrm>
          <a:prstGeom prst="ellipse">
            <a:avLst/>
          </a:prstGeom>
          <a:solidFill>
            <a:srgbClr val="09123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43980" y="3837087"/>
            <a:ext cx="212422" cy="21242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14205" y="4297363"/>
            <a:ext cx="2173332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校园课程和过程评价</a:t>
            </a:r>
            <a:endParaRPr lang="zh-CN" sz="1350" dirty="0"/>
          </a:p>
        </p:txBody>
      </p:sp>
      <p:sp>
        <p:nvSpPr>
          <p:cNvPr id="24" name="Text 17"/>
          <p:cNvSpPr/>
          <p:nvPr/>
        </p:nvSpPr>
        <p:spPr>
          <a:xfrm>
            <a:off x="9114205" y="4633813"/>
            <a:ext cx="2173332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单快拆终端＋标准化课程交付</a:t>
            </a:r>
            <a:endParaRPr lang="zh-CN" sz="1200" dirty="0"/>
          </a:p>
        </p:txBody>
      </p:sp>
      <p:sp>
        <p:nvSpPr>
          <p:cNvPr id="25" name="Shape 18"/>
          <p:cNvSpPr/>
          <p:nvPr/>
        </p:nvSpPr>
        <p:spPr>
          <a:xfrm>
            <a:off x="6294082" y="5383411"/>
            <a:ext cx="5169763" cy="731441"/>
          </a:xfrm>
          <a:prstGeom prst="roundRect">
            <a:avLst>
              <a:gd name="adj" fmla="val 32268"/>
            </a:avLst>
          </a:prstGeom>
          <a:solidFill>
            <a:srgbClr val="022349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1339" y="5574506"/>
            <a:ext cx="196647" cy="15726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05244" y="5528866"/>
            <a:ext cx="4501343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限制说明：公开资料未发现完全覆盖上述组合的成熟直接竞品，但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不等于全球穷尽检索或专利自由实施结论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。</a:t>
            </a:r>
            <a:endParaRPr lang="zh-CN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4200" y="657721"/>
            <a:ext cx="10723294" cy="437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商业模式：G端示范、B端续费、C端增长、硬件提高频率</a:t>
            </a:r>
            <a:endParaRPr lang="zh-CN" sz="2750" dirty="0"/>
          </a:p>
        </p:txBody>
      </p:sp>
      <p:sp>
        <p:nvSpPr>
          <p:cNvPr id="3" name="Shape 1"/>
          <p:cNvSpPr/>
          <p:nvPr/>
        </p:nvSpPr>
        <p:spPr>
          <a:xfrm>
            <a:off x="734200" y="1330722"/>
            <a:ext cx="3495786" cy="2158008"/>
          </a:xfrm>
          <a:prstGeom prst="roundRect">
            <a:avLst>
              <a:gd name="adj" fmla="val 10937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0508" y="1507034"/>
            <a:ext cx="3143171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G端与学校</a:t>
            </a:r>
            <a:endParaRPr lang="zh-CN" sz="1350" dirty="0"/>
          </a:p>
        </p:txBody>
      </p:sp>
      <p:sp>
        <p:nvSpPr>
          <p:cNvPr id="5" name="Text 3"/>
          <p:cNvSpPr/>
          <p:nvPr/>
        </p:nvSpPr>
        <p:spPr>
          <a:xfrm>
            <a:off x="910508" y="1796256"/>
            <a:ext cx="3143171" cy="100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单校示范 / 区域项目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SaaS + 课程授权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教师培训 + 设备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年度运维</a:t>
            </a:r>
            <a:endParaRPr lang="zh-CN" sz="1200" dirty="0"/>
          </a:p>
        </p:txBody>
      </p:sp>
      <p:sp>
        <p:nvSpPr>
          <p:cNvPr id="6" name="Text 4"/>
          <p:cNvSpPr/>
          <p:nvPr/>
        </p:nvSpPr>
        <p:spPr>
          <a:xfrm>
            <a:off x="910508" y="2871887"/>
            <a:ext cx="3143171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试点：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3—8万元/期</a:t>
            </a:r>
            <a:endParaRPr lang="zh-CN" sz="1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标准版：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8—20万元/年</a:t>
            </a:r>
            <a:endParaRPr lang="zh-CN" sz="1200" dirty="0"/>
          </a:p>
        </p:txBody>
      </p:sp>
      <p:sp>
        <p:nvSpPr>
          <p:cNvPr id="7" name="Shape 5"/>
          <p:cNvSpPr/>
          <p:nvPr/>
        </p:nvSpPr>
        <p:spPr>
          <a:xfrm>
            <a:off x="4347955" y="1330722"/>
            <a:ext cx="3495786" cy="2158008"/>
          </a:xfrm>
          <a:prstGeom prst="roundRect">
            <a:avLst>
              <a:gd name="adj" fmla="val 10937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4262" y="1507034"/>
            <a:ext cx="3143171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B端机构</a:t>
            </a:r>
            <a:endParaRPr lang="zh-CN" sz="1350" dirty="0"/>
          </a:p>
        </p:txBody>
      </p:sp>
      <p:sp>
        <p:nvSpPr>
          <p:cNvPr id="9" name="Text 7"/>
          <p:cNvSpPr/>
          <p:nvPr/>
        </p:nvSpPr>
        <p:spPr>
          <a:xfrm>
            <a:off x="4524262" y="1796256"/>
            <a:ext cx="3143171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年度SaaS + 账号额度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动作包 + 多门店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家长端 + 设备部署</a:t>
            </a:r>
            <a:endParaRPr lang="zh-CN" sz="1200" dirty="0"/>
          </a:p>
        </p:txBody>
      </p:sp>
      <p:sp>
        <p:nvSpPr>
          <p:cNvPr id="10" name="Text 8"/>
          <p:cNvSpPr/>
          <p:nvPr/>
        </p:nvSpPr>
        <p:spPr>
          <a:xfrm>
            <a:off x="4524262" y="2610346"/>
            <a:ext cx="3143171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试点：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0.3—0.8万元/期</a:t>
            </a:r>
            <a:endParaRPr lang="zh-CN" sz="1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基础版：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1.28万元/年</a:t>
            </a:r>
            <a:endParaRPr lang="zh-CN" sz="12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专业版：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2.98—4.98万元/年</a:t>
            </a:r>
            <a:endParaRPr lang="zh-CN" sz="1200" dirty="0"/>
          </a:p>
        </p:txBody>
      </p:sp>
      <p:sp>
        <p:nvSpPr>
          <p:cNvPr id="11" name="Shape 9"/>
          <p:cNvSpPr/>
          <p:nvPr/>
        </p:nvSpPr>
        <p:spPr>
          <a:xfrm>
            <a:off x="7961709" y="1330722"/>
            <a:ext cx="3495786" cy="2158008"/>
          </a:xfrm>
          <a:prstGeom prst="roundRect">
            <a:avLst>
              <a:gd name="adj" fmla="val 10937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016" y="1507034"/>
            <a:ext cx="3143171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专业端</a:t>
            </a:r>
            <a:endParaRPr lang="zh-CN" sz="1350" dirty="0"/>
          </a:p>
        </p:txBody>
      </p:sp>
      <p:sp>
        <p:nvSpPr>
          <p:cNvPr id="13" name="Text 11"/>
          <p:cNvSpPr/>
          <p:nvPr/>
        </p:nvSpPr>
        <p:spPr>
          <a:xfrm>
            <a:off x="8138016" y="1796256"/>
            <a:ext cx="3143171" cy="100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视觉—传感融合项目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运动队 / 科研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装备测试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定制模型和SDK/API</a:t>
            </a:r>
            <a:endParaRPr lang="zh-CN" sz="1200" dirty="0"/>
          </a:p>
        </p:txBody>
      </p:sp>
      <p:sp>
        <p:nvSpPr>
          <p:cNvPr id="14" name="Shape 12"/>
          <p:cNvSpPr/>
          <p:nvPr/>
        </p:nvSpPr>
        <p:spPr>
          <a:xfrm>
            <a:off x="734200" y="3606701"/>
            <a:ext cx="5302613" cy="1937742"/>
          </a:xfrm>
          <a:prstGeom prst="roundRect">
            <a:avLst>
              <a:gd name="adj" fmla="val 12180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0508" y="3783013"/>
            <a:ext cx="4949999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C端</a:t>
            </a:r>
            <a:endParaRPr lang="zh-CN" sz="1350" dirty="0"/>
          </a:p>
        </p:txBody>
      </p:sp>
      <p:sp>
        <p:nvSpPr>
          <p:cNvPr id="16" name="Text 14"/>
          <p:cNvSpPr/>
          <p:nvPr/>
        </p:nvSpPr>
        <p:spPr>
          <a:xfrm>
            <a:off x="910508" y="4072235"/>
            <a:ext cx="4949999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AI会员 + 3D课程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教练点评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平台佣金</a:t>
            </a:r>
            <a:endParaRPr lang="zh-CN" sz="1200" dirty="0"/>
          </a:p>
        </p:txBody>
      </p:sp>
      <p:sp>
        <p:nvSpPr>
          <p:cNvPr id="17" name="Text 15"/>
          <p:cNvSpPr/>
          <p:nvPr/>
        </p:nvSpPr>
        <p:spPr>
          <a:xfrm>
            <a:off x="910508" y="4886325"/>
            <a:ext cx="4949999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会员：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199—499元/年</a:t>
            </a:r>
            <a:endParaRPr lang="zh-CN" sz="1200" dirty="0"/>
          </a:p>
        </p:txBody>
      </p:sp>
      <p:sp>
        <p:nvSpPr>
          <p:cNvPr id="18" name="Shape 16"/>
          <p:cNvSpPr/>
          <p:nvPr/>
        </p:nvSpPr>
        <p:spPr>
          <a:xfrm>
            <a:off x="6154782" y="3606701"/>
            <a:ext cx="5302713" cy="1937742"/>
          </a:xfrm>
          <a:prstGeom prst="roundRect">
            <a:avLst>
              <a:gd name="adj" fmla="val 1218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1089" y="3783013"/>
            <a:ext cx="4950098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硬件端</a:t>
            </a:r>
            <a:endParaRPr lang="zh-CN" sz="1350" dirty="0"/>
          </a:p>
        </p:txBody>
      </p:sp>
      <p:sp>
        <p:nvSpPr>
          <p:cNvPr id="20" name="Text 18"/>
          <p:cNvSpPr/>
          <p:nvPr/>
        </p:nvSpPr>
        <p:spPr>
          <a:xfrm>
            <a:off x="6331089" y="4072235"/>
            <a:ext cx="4950098" cy="1004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单快拆传感器销售或租赁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配件 + 设备管理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硬件＋会员组合</a:t>
            </a:r>
            <a:endParaRPr lang="zh-CN" sz="1200" dirty="0"/>
          </a:p>
          <a:p>
            <a:pPr algn="l" marL="243840" indent="-243840">
              <a:lnSpc>
                <a:spcPct val="117000"/>
              </a:lnSpc>
              <a:buSzPct val="100000"/>
              <a:buChar char="•"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OTA新动作</a:t>
            </a:r>
            <a:endParaRPr lang="zh-CN" sz="1200" dirty="0"/>
          </a:p>
        </p:txBody>
      </p:sp>
      <p:sp>
        <p:nvSpPr>
          <p:cNvPr id="21" name="Text 19"/>
          <p:cNvSpPr/>
          <p:nvPr/>
        </p:nvSpPr>
        <p:spPr>
          <a:xfrm>
            <a:off x="6331089" y="5147866"/>
            <a:ext cx="4950098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传感器：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699—1,299元/个</a:t>
            </a:r>
            <a:endParaRPr lang="zh-CN" sz="1200" dirty="0"/>
          </a:p>
        </p:txBody>
      </p:sp>
      <p:sp>
        <p:nvSpPr>
          <p:cNvPr id="22" name="Shape 20"/>
          <p:cNvSpPr/>
          <p:nvPr/>
        </p:nvSpPr>
        <p:spPr>
          <a:xfrm>
            <a:off x="734200" y="5677198"/>
            <a:ext cx="10723294" cy="522982"/>
          </a:xfrm>
          <a:prstGeom prst="roundRect">
            <a:avLst>
              <a:gd name="adj" fmla="val 45130"/>
            </a:avLst>
          </a:prstGeom>
          <a:solidFill>
            <a:srgbClr val="00805A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58" y="5849243"/>
            <a:ext cx="196647" cy="15726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45363" y="5834459"/>
            <a:ext cx="10664459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以上均为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待调研验证的建议价格</a:t>
            </a:r>
            <a:pPr algn="l" indent="0" marL="0">
              <a:lnSpc>
                <a:spcPct val="117000"/>
              </a:lnSpc>
              <a:buNone/>
            </a:pPr>
            <a:r>
              <a:rPr lang="zh-CN" altLang="en-US" sz="12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，不是既有成交数据。复购驱动：新学年、新学员、新动作、新课程、新设备、阶段复测和长期成长档案。</a:t>
            </a:r>
            <a:endParaRPr lang="zh-CN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4200" y="611485"/>
            <a:ext cx="10723294" cy="325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2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营销路径：真实效果样例→试点→标杆→区域复制</a:t>
            </a:r>
            <a:endParaRPr lang="zh-CN" sz="2050" dirty="0"/>
          </a:p>
        </p:txBody>
      </p:sp>
      <p:sp>
        <p:nvSpPr>
          <p:cNvPr id="3" name="Text 1"/>
          <p:cNvSpPr/>
          <p:nvPr/>
        </p:nvSpPr>
        <p:spPr>
          <a:xfrm>
            <a:off x="734200" y="1822351"/>
            <a:ext cx="521867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关键转化漏斗</a:t>
            </a:r>
            <a:endParaRPr lang="zh-CN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00" y="2058690"/>
            <a:ext cx="3392105" cy="33921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45168" y="1100534"/>
            <a:ext cx="521867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三年市场路线</a:t>
            </a:r>
            <a:endParaRPr lang="zh-CN" sz="1000" dirty="0"/>
          </a:p>
        </p:txBody>
      </p:sp>
      <p:sp>
        <p:nvSpPr>
          <p:cNvPr id="6" name="Shape 3"/>
          <p:cNvSpPr/>
          <p:nvPr/>
        </p:nvSpPr>
        <p:spPr>
          <a:xfrm>
            <a:off x="8848107" y="1336873"/>
            <a:ext cx="12700" cy="2131715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383824" y="1462286"/>
            <a:ext cx="351523" cy="12700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</p:sp>
      <p:sp>
        <p:nvSpPr>
          <p:cNvPr id="8" name="Shape 5"/>
          <p:cNvSpPr/>
          <p:nvPr/>
        </p:nvSpPr>
        <p:spPr>
          <a:xfrm>
            <a:off x="8722648" y="1336873"/>
            <a:ext cx="263618" cy="263624"/>
          </a:xfrm>
          <a:prstGeom prst="ellipse">
            <a:avLst/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6324" y="1371005"/>
            <a:ext cx="15616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45168" y="1377156"/>
            <a:ext cx="2023417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第一年</a:t>
            </a:r>
            <a:endParaRPr lang="zh-CN" sz="1000" dirty="0"/>
          </a:p>
        </p:txBody>
      </p:sp>
      <p:sp>
        <p:nvSpPr>
          <p:cNvPr id="11" name="Text 8"/>
          <p:cNvSpPr/>
          <p:nvPr/>
        </p:nvSpPr>
        <p:spPr>
          <a:xfrm>
            <a:off x="6245168" y="1605260"/>
            <a:ext cx="202341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种子学校与机构 + 内容获客；STP重点验证有固定场景和专业反馈能力的学校与机构</a:t>
            </a:r>
            <a:endParaRPr lang="zh-CN" sz="900" dirty="0"/>
          </a:p>
        </p:txBody>
      </p:sp>
      <p:sp>
        <p:nvSpPr>
          <p:cNvPr id="12" name="Shape 9"/>
          <p:cNvSpPr/>
          <p:nvPr/>
        </p:nvSpPr>
        <p:spPr>
          <a:xfrm>
            <a:off x="8973566" y="2061865"/>
            <a:ext cx="351523" cy="12700"/>
          </a:xfrm>
          <a:prstGeom prst="roundRect">
            <a:avLst>
              <a:gd name="adj" fmla="val 49999"/>
            </a:avLst>
          </a:prstGeom>
          <a:solidFill>
            <a:srgbClr val="29DDDA"/>
          </a:solidFill>
          <a:ln/>
        </p:spPr>
      </p:sp>
      <p:sp>
        <p:nvSpPr>
          <p:cNvPr id="13" name="Shape 10"/>
          <p:cNvSpPr/>
          <p:nvPr/>
        </p:nvSpPr>
        <p:spPr>
          <a:xfrm>
            <a:off x="8722648" y="1936452"/>
            <a:ext cx="263618" cy="263624"/>
          </a:xfrm>
          <a:prstGeom prst="ellipse">
            <a:avLst/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6324" y="1970584"/>
            <a:ext cx="15616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440329" y="1976735"/>
            <a:ext cx="202351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第二年</a:t>
            </a:r>
            <a:endParaRPr lang="zh-CN" sz="1000" dirty="0"/>
          </a:p>
        </p:txBody>
      </p:sp>
      <p:sp>
        <p:nvSpPr>
          <p:cNvPr id="16" name="Text 13"/>
          <p:cNvSpPr/>
          <p:nvPr/>
        </p:nvSpPr>
        <p:spPr>
          <a:xfrm>
            <a:off x="9440329" y="2204839"/>
            <a:ext cx="20235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区域合作与融合产品；推广视觉—传感器融合方案</a:t>
            </a:r>
            <a:endParaRPr lang="zh-CN" sz="900" dirty="0"/>
          </a:p>
        </p:txBody>
      </p:sp>
      <p:sp>
        <p:nvSpPr>
          <p:cNvPr id="17" name="Shape 14"/>
          <p:cNvSpPr/>
          <p:nvPr/>
        </p:nvSpPr>
        <p:spPr>
          <a:xfrm>
            <a:off x="8383824" y="2616200"/>
            <a:ext cx="351523" cy="12700"/>
          </a:xfrm>
          <a:prstGeom prst="roundRect">
            <a:avLst>
              <a:gd name="adj" fmla="val 49999"/>
            </a:avLst>
          </a:prstGeom>
          <a:solidFill>
            <a:srgbClr val="37A7E7"/>
          </a:solidFill>
          <a:ln/>
        </p:spPr>
      </p:sp>
      <p:sp>
        <p:nvSpPr>
          <p:cNvPr id="18" name="Shape 15"/>
          <p:cNvSpPr/>
          <p:nvPr/>
        </p:nvSpPr>
        <p:spPr>
          <a:xfrm>
            <a:off x="8722648" y="2490788"/>
            <a:ext cx="263618" cy="263624"/>
          </a:xfrm>
          <a:prstGeom prst="ellipse">
            <a:avLst/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6324" y="2524919"/>
            <a:ext cx="15616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45168" y="2531070"/>
            <a:ext cx="2023417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第三年</a:t>
            </a:r>
            <a:endParaRPr lang="zh-CN" sz="1000" dirty="0"/>
          </a:p>
        </p:txBody>
      </p:sp>
      <p:sp>
        <p:nvSpPr>
          <p:cNvPr id="21" name="Text 18"/>
          <p:cNvSpPr/>
          <p:nvPr/>
        </p:nvSpPr>
        <p:spPr>
          <a:xfrm>
            <a:off x="6245168" y="2759174"/>
            <a:ext cx="20234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硬件规模化和滑板专项扩展；标准化后区域复制</a:t>
            </a:r>
            <a:endParaRPr lang="zh-CN" sz="900" dirty="0"/>
          </a:p>
        </p:txBody>
      </p:sp>
      <p:sp>
        <p:nvSpPr>
          <p:cNvPr id="22" name="Text 19"/>
          <p:cNvSpPr/>
          <p:nvPr/>
        </p:nvSpPr>
        <p:spPr>
          <a:xfrm>
            <a:off x="6245168" y="3542209"/>
            <a:ext cx="5218676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推广核心叙事</a:t>
            </a:r>
            <a:endParaRPr lang="zh-CN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9121" y="3782070"/>
            <a:ext cx="175712" cy="17571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625960" y="3778548"/>
            <a:ext cx="4837884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原始动作</a:t>
            </a:r>
            <a:endParaRPr lang="zh-CN" sz="1000" dirty="0"/>
          </a:p>
        </p:txBody>
      </p:sp>
      <p:sp>
        <p:nvSpPr>
          <p:cNvPr id="25" name="Text 21"/>
          <p:cNvSpPr/>
          <p:nvPr/>
        </p:nvSpPr>
        <p:spPr>
          <a:xfrm>
            <a:off x="6625960" y="4006652"/>
            <a:ext cx="483788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采集学员真实动作数据</a:t>
            </a:r>
            <a:endParaRPr lang="zh-CN" sz="9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9121" y="4287093"/>
            <a:ext cx="175712" cy="1757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625960" y="4283571"/>
            <a:ext cx="4837884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问题识别</a:t>
            </a:r>
            <a:endParaRPr lang="zh-CN" sz="1000" dirty="0"/>
          </a:p>
        </p:txBody>
      </p:sp>
      <p:sp>
        <p:nvSpPr>
          <p:cNvPr id="28" name="Text 23"/>
          <p:cNvSpPr/>
          <p:nvPr/>
        </p:nvSpPr>
        <p:spPr>
          <a:xfrm>
            <a:off x="6625960" y="4511675"/>
            <a:ext cx="483788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AI自动识别动作缺陷</a:t>
            </a:r>
            <a:endParaRPr lang="zh-CN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9121" y="4792117"/>
            <a:ext cx="175712" cy="17571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625960" y="4788595"/>
            <a:ext cx="4837884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教师/教练解释</a:t>
            </a:r>
            <a:endParaRPr lang="zh-CN" sz="1000" dirty="0"/>
          </a:p>
        </p:txBody>
      </p:sp>
      <p:sp>
        <p:nvSpPr>
          <p:cNvPr id="31" name="Text 25"/>
          <p:cNvSpPr/>
          <p:nvPr/>
        </p:nvSpPr>
        <p:spPr>
          <a:xfrm>
            <a:off x="6625960" y="5016698"/>
            <a:ext cx="483788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专业人员结合数据给出建议</a:t>
            </a:r>
            <a:endParaRPr lang="zh-CN" sz="9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9121" y="5297140"/>
            <a:ext cx="175712" cy="17571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625960" y="5293618"/>
            <a:ext cx="4837884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针对性训练</a:t>
            </a:r>
            <a:endParaRPr lang="zh-CN" sz="1000" dirty="0"/>
          </a:p>
        </p:txBody>
      </p:sp>
      <p:sp>
        <p:nvSpPr>
          <p:cNvPr id="34" name="Text 27"/>
          <p:cNvSpPr/>
          <p:nvPr/>
        </p:nvSpPr>
        <p:spPr>
          <a:xfrm>
            <a:off x="6625960" y="5521722"/>
            <a:ext cx="483788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个性化训练方案</a:t>
            </a:r>
            <a:endParaRPr lang="zh-CN" sz="9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89121" y="5802164"/>
            <a:ext cx="175712" cy="17571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625960" y="5798641"/>
            <a:ext cx="4837884" cy="162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复测变化</a:t>
            </a:r>
            <a:endParaRPr lang="zh-CN" sz="1000" dirty="0"/>
          </a:p>
        </p:txBody>
      </p:sp>
      <p:sp>
        <p:nvSpPr>
          <p:cNvPr id="37" name="Text 29"/>
          <p:cNvSpPr/>
          <p:nvPr/>
        </p:nvSpPr>
        <p:spPr>
          <a:xfrm>
            <a:off x="6625960" y="6026745"/>
            <a:ext cx="483788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量化进步，驱动续费</a:t>
            </a:r>
            <a:endParaRPr lang="zh-CN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4200" y="665659"/>
            <a:ext cx="1072329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可复制交付：标准化研发、课程、学校项目和硬件质量门禁</a:t>
            </a:r>
            <a:endParaRPr lang="zh-CN" sz="1200" dirty="0"/>
          </a:p>
        </p:txBody>
      </p:sp>
      <p:sp>
        <p:nvSpPr>
          <p:cNvPr id="3" name="Text 1"/>
          <p:cNvSpPr/>
          <p:nvPr/>
        </p:nvSpPr>
        <p:spPr>
          <a:xfrm>
            <a:off x="734200" y="1461591"/>
            <a:ext cx="6910115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研发PDCA闭环</a:t>
            </a:r>
            <a:endParaRPr lang="zh-CN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48" y="1585615"/>
            <a:ext cx="4491520" cy="1760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50976" y="1671970"/>
            <a:ext cx="822212" cy="117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计划：问题定义</a:t>
            </a:r>
            <a:endParaRPr lang="zh-CN" sz="700" dirty="0"/>
          </a:p>
        </p:txBody>
      </p:sp>
      <p:sp>
        <p:nvSpPr>
          <p:cNvPr id="6" name="Text 3"/>
          <p:cNvSpPr/>
          <p:nvPr/>
        </p:nvSpPr>
        <p:spPr>
          <a:xfrm>
            <a:off x="5505147" y="1671970"/>
            <a:ext cx="822212" cy="117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执行：数据收集</a:t>
            </a:r>
            <a:endParaRPr lang="zh-CN" sz="700" dirty="0"/>
          </a:p>
        </p:txBody>
      </p:sp>
      <p:sp>
        <p:nvSpPr>
          <p:cNvPr id="7" name="Text 4"/>
          <p:cNvSpPr/>
          <p:nvPr/>
        </p:nvSpPr>
        <p:spPr>
          <a:xfrm>
            <a:off x="5505147" y="3142591"/>
            <a:ext cx="822212" cy="117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检查：回归与合规</a:t>
            </a:r>
            <a:endParaRPr lang="zh-CN" sz="700" dirty="0"/>
          </a:p>
        </p:txBody>
      </p:sp>
      <p:sp>
        <p:nvSpPr>
          <p:cNvPr id="8" name="Text 5"/>
          <p:cNvSpPr/>
          <p:nvPr/>
        </p:nvSpPr>
        <p:spPr>
          <a:xfrm>
            <a:off x="2050976" y="3142591"/>
            <a:ext cx="822212" cy="117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zh-CN" altLang="en-US" sz="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行动：保留/回滚</a:t>
            </a:r>
            <a:endParaRPr lang="zh-CN" sz="700" dirty="0"/>
          </a:p>
        </p:txBody>
      </p:sp>
      <p:sp>
        <p:nvSpPr>
          <p:cNvPr id="9" name="Text 6"/>
          <p:cNvSpPr/>
          <p:nvPr/>
        </p:nvSpPr>
        <p:spPr>
          <a:xfrm>
            <a:off x="7822111" y="919758"/>
            <a:ext cx="3641634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发布门禁（未达标不进入正式产品）</a:t>
            </a:r>
            <a:endParaRPr lang="zh-CN" sz="600" dirty="0"/>
          </a:p>
        </p:txBody>
      </p:sp>
      <p:sp>
        <p:nvSpPr>
          <p:cNvPr id="10" name="Shape 7"/>
          <p:cNvSpPr/>
          <p:nvPr/>
        </p:nvSpPr>
        <p:spPr>
          <a:xfrm>
            <a:off x="7822111" y="1043781"/>
            <a:ext cx="3641634" cy="485180"/>
          </a:xfrm>
          <a:prstGeom prst="roundRect">
            <a:avLst>
              <a:gd name="adj" fmla="val 21739"/>
            </a:avLst>
          </a:prstGeom>
          <a:solidFill>
            <a:srgbClr val="0A081B"/>
          </a:solidFill>
          <a:ln w="6350">
            <a:solidFill>
              <a:srgbClr val="16FFB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98706" y="1120378"/>
            <a:ext cx="210934" cy="210939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6748" y="1178322"/>
            <a:ext cx="94851" cy="9485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98706" y="1354832"/>
            <a:ext cx="3488444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核心动作准确率</a:t>
            </a:r>
            <a:endParaRPr lang="zh-CN" sz="600" dirty="0"/>
          </a:p>
        </p:txBody>
      </p:sp>
      <p:sp>
        <p:nvSpPr>
          <p:cNvPr id="14" name="Shape 10"/>
          <p:cNvSpPr/>
          <p:nvPr/>
        </p:nvSpPr>
        <p:spPr>
          <a:xfrm>
            <a:off x="7822111" y="1552476"/>
            <a:ext cx="3641634" cy="485180"/>
          </a:xfrm>
          <a:prstGeom prst="roundRect">
            <a:avLst>
              <a:gd name="adj" fmla="val 21739"/>
            </a:avLst>
          </a:prstGeom>
          <a:solidFill>
            <a:srgbClr val="0A081B"/>
          </a:solidFill>
          <a:ln w="6350">
            <a:solidFill>
              <a:srgbClr val="29DDD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98706" y="1629073"/>
            <a:ext cx="210934" cy="210939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6748" y="1687016"/>
            <a:ext cx="94851" cy="948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98706" y="1863527"/>
            <a:ext cx="3488444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独立评测通过</a:t>
            </a:r>
            <a:endParaRPr lang="zh-CN" sz="600" dirty="0"/>
          </a:p>
        </p:txBody>
      </p:sp>
      <p:sp>
        <p:nvSpPr>
          <p:cNvPr id="18" name="Shape 13"/>
          <p:cNvSpPr/>
          <p:nvPr/>
        </p:nvSpPr>
        <p:spPr>
          <a:xfrm>
            <a:off x="7822111" y="2061170"/>
            <a:ext cx="3641634" cy="485180"/>
          </a:xfrm>
          <a:prstGeom prst="roundRect">
            <a:avLst>
              <a:gd name="adj" fmla="val 21739"/>
            </a:avLst>
          </a:prstGeom>
          <a:solidFill>
            <a:srgbClr val="0A081B"/>
          </a:solidFill>
          <a:ln w="6350">
            <a:solidFill>
              <a:srgbClr val="37A7E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898706" y="2137767"/>
            <a:ext cx="210934" cy="210939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56748" y="2195711"/>
            <a:ext cx="94851" cy="9485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898706" y="2372221"/>
            <a:ext cx="3488444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数据授权合规</a:t>
            </a:r>
            <a:endParaRPr lang="zh-CN" sz="600" dirty="0"/>
          </a:p>
        </p:txBody>
      </p:sp>
      <p:sp>
        <p:nvSpPr>
          <p:cNvPr id="22" name="Shape 16"/>
          <p:cNvSpPr/>
          <p:nvPr/>
        </p:nvSpPr>
        <p:spPr>
          <a:xfrm>
            <a:off x="7822111" y="2569865"/>
            <a:ext cx="3641634" cy="485180"/>
          </a:xfrm>
          <a:prstGeom prst="roundRect">
            <a:avLst>
              <a:gd name="adj" fmla="val 21739"/>
            </a:avLst>
          </a:prstGeom>
          <a:solidFill>
            <a:srgbClr val="0A081B"/>
          </a:solidFill>
          <a:ln w="6350">
            <a:solidFill>
              <a:srgbClr val="09123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898706" y="2646462"/>
            <a:ext cx="210934" cy="210939"/>
          </a:xfrm>
          <a:prstGeom prst="ellipse">
            <a:avLst/>
          </a:prstGeom>
          <a:solidFill>
            <a:srgbClr val="09123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6748" y="2704405"/>
            <a:ext cx="94851" cy="9485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98706" y="2880916"/>
            <a:ext cx="3488444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安全审查通过</a:t>
            </a:r>
            <a:endParaRPr lang="zh-CN" sz="600" dirty="0"/>
          </a:p>
        </p:txBody>
      </p:sp>
      <p:sp>
        <p:nvSpPr>
          <p:cNvPr id="26" name="Text 19"/>
          <p:cNvSpPr/>
          <p:nvPr/>
        </p:nvSpPr>
        <p:spPr>
          <a:xfrm>
            <a:off x="7822111" y="3081536"/>
            <a:ext cx="3641634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看板核心指标</a:t>
            </a:r>
            <a:endParaRPr lang="zh-CN" sz="6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15762" y="3199209"/>
            <a:ext cx="3647984" cy="20885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905056" y="3205559"/>
            <a:ext cx="3558689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技术层</a:t>
            </a:r>
            <a:endParaRPr lang="zh-CN" sz="600" dirty="0"/>
          </a:p>
        </p:txBody>
      </p:sp>
      <p:sp>
        <p:nvSpPr>
          <p:cNvPr id="29" name="Text 21"/>
          <p:cNvSpPr/>
          <p:nvPr/>
        </p:nvSpPr>
        <p:spPr>
          <a:xfrm>
            <a:off x="7905056" y="3326606"/>
            <a:ext cx="3558689" cy="75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zh-CN" alt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核心动作准确率 · 未知拒绝率 · 单摄成功率</a:t>
            </a:r>
            <a:endParaRPr lang="zh-CN" sz="5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15762" y="3442494"/>
            <a:ext cx="3647984" cy="20885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05056" y="3448844"/>
            <a:ext cx="3558689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产品层</a:t>
            </a:r>
            <a:endParaRPr lang="zh-CN" sz="600" dirty="0"/>
          </a:p>
        </p:txBody>
      </p:sp>
      <p:sp>
        <p:nvSpPr>
          <p:cNvPr id="32" name="Text 23"/>
          <p:cNvSpPr/>
          <p:nvPr/>
        </p:nvSpPr>
        <p:spPr>
          <a:xfrm>
            <a:off x="7905056" y="3569891"/>
            <a:ext cx="3558689" cy="75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zh-CN" alt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报告采用率 · 续费率 · 回款周期</a:t>
            </a:r>
            <a:endParaRPr lang="zh-CN" sz="5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15762" y="3685778"/>
            <a:ext cx="3647984" cy="208855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905056" y="3692128"/>
            <a:ext cx="3558689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硬件层</a:t>
            </a:r>
            <a:endParaRPr lang="zh-CN" sz="600" dirty="0"/>
          </a:p>
        </p:txBody>
      </p:sp>
      <p:sp>
        <p:nvSpPr>
          <p:cNvPr id="35" name="Text 25"/>
          <p:cNvSpPr/>
          <p:nvPr/>
        </p:nvSpPr>
        <p:spPr>
          <a:xfrm>
            <a:off x="7905056" y="3813175"/>
            <a:ext cx="3558689" cy="75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zh-CN" alt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故障与退货率 · 授权完整率</a:t>
            </a:r>
            <a:endParaRPr lang="zh-CN" sz="550" dirty="0"/>
          </a:p>
        </p:txBody>
      </p:sp>
      <p:sp>
        <p:nvSpPr>
          <p:cNvPr id="36" name="Text 26"/>
          <p:cNvSpPr/>
          <p:nvPr/>
        </p:nvSpPr>
        <p:spPr>
          <a:xfrm>
            <a:off x="734200" y="3950097"/>
            <a:ext cx="10723294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交付流程（学校 / 机构 / 硬件）</a:t>
            </a:r>
            <a:endParaRPr lang="zh-CN" sz="6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4200" y="4082951"/>
            <a:ext cx="351523" cy="42187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109238" y="4153198"/>
            <a:ext cx="10348257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需求调研</a:t>
            </a:r>
            <a:endParaRPr lang="zh-CN" sz="600" dirty="0"/>
          </a:p>
        </p:txBody>
      </p:sp>
      <p:sp>
        <p:nvSpPr>
          <p:cNvPr id="39" name="Text 28"/>
          <p:cNvSpPr/>
          <p:nvPr/>
        </p:nvSpPr>
        <p:spPr>
          <a:xfrm>
            <a:off x="1109238" y="4264819"/>
            <a:ext cx="10348257" cy="75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zh-CN" alt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场地、合规、方案设计</a:t>
            </a:r>
            <a:endParaRPr lang="zh-CN" sz="55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4200" y="4504829"/>
            <a:ext cx="351523" cy="42187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109238" y="4575076"/>
            <a:ext cx="10348257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部署培训</a:t>
            </a:r>
            <a:endParaRPr lang="zh-CN" sz="600" dirty="0"/>
          </a:p>
        </p:txBody>
      </p:sp>
      <p:sp>
        <p:nvSpPr>
          <p:cNvPr id="42" name="Text 30"/>
          <p:cNvSpPr/>
          <p:nvPr/>
        </p:nvSpPr>
        <p:spPr>
          <a:xfrm>
            <a:off x="1109238" y="4686697"/>
            <a:ext cx="10348257" cy="75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zh-CN" alt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设备安装、教师/教练培训</a:t>
            </a:r>
            <a:endParaRPr lang="zh-CN" sz="55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4200" y="4926707"/>
            <a:ext cx="351523" cy="42187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109238" y="4996954"/>
            <a:ext cx="10348257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试运行</a:t>
            </a:r>
            <a:endParaRPr lang="zh-CN" sz="600" dirty="0"/>
          </a:p>
        </p:txBody>
      </p:sp>
      <p:sp>
        <p:nvSpPr>
          <p:cNvPr id="45" name="Text 32"/>
          <p:cNvSpPr/>
          <p:nvPr/>
        </p:nvSpPr>
        <p:spPr>
          <a:xfrm>
            <a:off x="1109238" y="5108575"/>
            <a:ext cx="10348257" cy="75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zh-CN" alt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小范围测试、学员建档</a:t>
            </a:r>
            <a:endParaRPr lang="zh-CN" sz="55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4200" y="5348585"/>
            <a:ext cx="351523" cy="421878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1109238" y="5418832"/>
            <a:ext cx="10348257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正式教学</a:t>
            </a:r>
            <a:endParaRPr lang="zh-CN" sz="600" dirty="0"/>
          </a:p>
        </p:txBody>
      </p:sp>
      <p:sp>
        <p:nvSpPr>
          <p:cNvPr id="48" name="Text 34"/>
          <p:cNvSpPr/>
          <p:nvPr/>
        </p:nvSpPr>
        <p:spPr>
          <a:xfrm>
            <a:off x="1109238" y="5530453"/>
            <a:ext cx="10348257" cy="75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zh-CN" alt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周度分析、阶段评价</a:t>
            </a:r>
            <a:endParaRPr lang="zh-CN" sz="550" dirty="0"/>
          </a:p>
        </p:txBody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4200" y="5770463"/>
            <a:ext cx="351523" cy="421878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1109238" y="5840710"/>
            <a:ext cx="10348257" cy="97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验收续期</a:t>
            </a:r>
            <a:endParaRPr lang="zh-CN" sz="600" dirty="0"/>
          </a:p>
        </p:txBody>
      </p:sp>
      <p:sp>
        <p:nvSpPr>
          <p:cNvPr id="51" name="Text 36"/>
          <p:cNvSpPr/>
          <p:nvPr/>
        </p:nvSpPr>
        <p:spPr>
          <a:xfrm>
            <a:off x="1109238" y="5952331"/>
            <a:ext cx="10348257" cy="751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zh-CN" altLang="en-US" sz="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8—12周复盘、年度续约</a:t>
            </a:r>
            <a:endParaRPr lang="zh-CN" sz="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34200" y="598984"/>
            <a:ext cx="10723294" cy="301823"/>
          </a:xfrm>
          <a:prstGeom prst="roundRect">
            <a:avLst>
              <a:gd name="adj" fmla="val 49999"/>
            </a:avLst>
          </a:prstGeom>
          <a:solidFill>
            <a:srgbClr val="45070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26" y="685105"/>
            <a:ext cx="138407" cy="1107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4058" y="685105"/>
            <a:ext cx="10862296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zh-CN" altLang="en-US" sz="8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基准情景预测，不构成承诺。</a:t>
            </a:r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历史技术产品收入和正式付费客户目前暂无可核实数据。</a:t>
            </a:r>
            <a:endParaRPr lang="zh-CN" sz="850" dirty="0"/>
          </a:p>
        </p:txBody>
      </p:sp>
      <p:sp>
        <p:nvSpPr>
          <p:cNvPr id="5" name="Text 2"/>
          <p:cNvSpPr/>
          <p:nvPr/>
        </p:nvSpPr>
        <p:spPr>
          <a:xfrm>
            <a:off x="734200" y="988516"/>
            <a:ext cx="10723294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财务目标：建立在客户数量、客单价和硬件销量之上</a:t>
            </a:r>
            <a:endParaRPr lang="zh-CN" sz="1900" dirty="0"/>
          </a:p>
        </p:txBody>
      </p:sp>
      <p:sp>
        <p:nvSpPr>
          <p:cNvPr id="6" name="Text 3"/>
          <p:cNvSpPr/>
          <p:nvPr/>
        </p:nvSpPr>
        <p:spPr>
          <a:xfrm>
            <a:off x="734200" y="1442442"/>
            <a:ext cx="52265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五年收入与净利润预测（万元）</a:t>
            </a:r>
            <a:endParaRPr lang="zh-CN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1662113"/>
            <a:ext cx="3397165" cy="24453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4200" y="4173240"/>
            <a:ext cx="5836099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年度盈亏平衡：基准情景</a:t>
            </a:r>
            <a:pPr algn="l" indent="0" marL="0">
              <a:lnSpc>
                <a:spcPct val="102000"/>
              </a:lnSpc>
              <a:buNone/>
            </a:pPr>
            <a:r>
              <a:rPr lang="zh-CN" altLang="en-US" sz="8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第3年（2029年）</a:t>
            </a:r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；估算年收入盈亏平衡点约</a:t>
            </a:r>
            <a:pPr algn="l" indent="0" marL="0">
              <a:lnSpc>
                <a:spcPct val="102000"/>
              </a:lnSpc>
              <a:buNone/>
            </a:pPr>
            <a:r>
              <a:rPr lang="zh-CN" altLang="en-US" sz="8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930万元</a:t>
            </a:r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。</a:t>
            </a:r>
            <a:endParaRPr lang="zh-CN" sz="850" dirty="0"/>
          </a:p>
        </p:txBody>
      </p:sp>
      <p:sp>
        <p:nvSpPr>
          <p:cNvPr id="9" name="Text 5"/>
          <p:cNvSpPr/>
          <p:nvPr/>
        </p:nvSpPr>
        <p:spPr>
          <a:xfrm>
            <a:off x="6237330" y="1442442"/>
            <a:ext cx="522651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本轮融资：400万元（意向出让10%—15%股权，支持12—18个月）</a:t>
            </a:r>
            <a:endParaRPr lang="zh-CN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330" y="1662113"/>
            <a:ext cx="3397165" cy="24453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4200" y="4448969"/>
            <a:ext cx="1072329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团队架构（关键人才缺口）</a:t>
            </a:r>
            <a:endParaRPr lang="zh-CN" sz="950" dirty="0"/>
          </a:p>
        </p:txBody>
      </p:sp>
      <p:sp>
        <p:nvSpPr>
          <p:cNvPr id="12" name="Shape 7"/>
          <p:cNvSpPr/>
          <p:nvPr/>
        </p:nvSpPr>
        <p:spPr>
          <a:xfrm>
            <a:off x="734200" y="4690566"/>
            <a:ext cx="5332378" cy="571202"/>
          </a:xfrm>
          <a:prstGeom prst="roundRect">
            <a:avLst>
              <a:gd name="adj" fmla="val 29097"/>
            </a:avLst>
          </a:prstGeom>
          <a:solidFill>
            <a:srgbClr val="0A081B">
              <a:alpha val="75000"/>
            </a:srgbClr>
          </a:solidFill>
          <a:ln w="12700">
            <a:solidFill>
              <a:srgbClr val="16FFB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57625" y="4813995"/>
            <a:ext cx="508552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计算机视觉与三维</a:t>
            </a:r>
            <a:endParaRPr lang="zh-CN" sz="950" dirty="0"/>
          </a:p>
        </p:txBody>
      </p:sp>
      <p:sp>
        <p:nvSpPr>
          <p:cNvPr id="14" name="Text 9"/>
          <p:cNvSpPr/>
          <p:nvPr/>
        </p:nvSpPr>
        <p:spPr>
          <a:xfrm>
            <a:off x="857625" y="5002907"/>
            <a:ext cx="5085528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【待补真实证据】能独立编程、设计实验并维护三维视觉与多模态系统的技术负责人</a:t>
            </a:r>
            <a:endParaRPr lang="zh-CN" sz="850" dirty="0"/>
          </a:p>
        </p:txBody>
      </p:sp>
      <p:sp>
        <p:nvSpPr>
          <p:cNvPr id="15" name="Shape 10"/>
          <p:cNvSpPr/>
          <p:nvPr/>
        </p:nvSpPr>
        <p:spPr>
          <a:xfrm>
            <a:off x="6125017" y="4690566"/>
            <a:ext cx="5332478" cy="571202"/>
          </a:xfrm>
          <a:prstGeom prst="roundRect">
            <a:avLst>
              <a:gd name="adj" fmla="val 29097"/>
            </a:avLst>
          </a:prstGeom>
          <a:solidFill>
            <a:srgbClr val="0A081B">
              <a:alpha val="75000"/>
            </a:srgbClr>
          </a:solidFill>
          <a:ln w="12700">
            <a:solidFill>
              <a:srgbClr val="29DDD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248442" y="4813995"/>
            <a:ext cx="508562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运动生物力学</a:t>
            </a:r>
            <a:endParaRPr lang="zh-CN" sz="950" dirty="0"/>
          </a:p>
        </p:txBody>
      </p:sp>
      <p:sp>
        <p:nvSpPr>
          <p:cNvPr id="17" name="Text 12"/>
          <p:cNvSpPr/>
          <p:nvPr/>
        </p:nvSpPr>
        <p:spPr>
          <a:xfrm>
            <a:off x="6248442" y="5002907"/>
            <a:ext cx="5085627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【待补真实证据】运动生物力学验证专家</a:t>
            </a:r>
            <a:endParaRPr lang="zh-CN" sz="850" dirty="0"/>
          </a:p>
        </p:txBody>
      </p:sp>
      <p:sp>
        <p:nvSpPr>
          <p:cNvPr id="18" name="Shape 13"/>
          <p:cNvSpPr/>
          <p:nvPr/>
        </p:nvSpPr>
        <p:spPr>
          <a:xfrm>
            <a:off x="734200" y="5320209"/>
            <a:ext cx="5332378" cy="571202"/>
          </a:xfrm>
          <a:prstGeom prst="roundRect">
            <a:avLst>
              <a:gd name="adj" fmla="val 29097"/>
            </a:avLst>
          </a:prstGeom>
          <a:solidFill>
            <a:srgbClr val="0A081B">
              <a:alpha val="75000"/>
            </a:srgbClr>
          </a:solidFill>
          <a:ln w="12700">
            <a:solidFill>
              <a:srgbClr val="37A7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57625" y="5443637"/>
            <a:ext cx="508552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嵌入式与硬件</a:t>
            </a:r>
            <a:endParaRPr lang="zh-CN" sz="950" dirty="0"/>
          </a:p>
        </p:txBody>
      </p:sp>
      <p:sp>
        <p:nvSpPr>
          <p:cNvPr id="20" name="Text 15"/>
          <p:cNvSpPr/>
          <p:nvPr/>
        </p:nvSpPr>
        <p:spPr>
          <a:xfrm>
            <a:off x="857625" y="5632549"/>
            <a:ext cx="5085528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【待补真实证据】快拆硬件与嵌入式负责人</a:t>
            </a:r>
            <a:endParaRPr lang="zh-CN" sz="850" dirty="0"/>
          </a:p>
        </p:txBody>
      </p:sp>
      <p:sp>
        <p:nvSpPr>
          <p:cNvPr id="21" name="Shape 16"/>
          <p:cNvSpPr/>
          <p:nvPr/>
        </p:nvSpPr>
        <p:spPr>
          <a:xfrm>
            <a:off x="6125017" y="5320209"/>
            <a:ext cx="5332478" cy="571202"/>
          </a:xfrm>
          <a:prstGeom prst="roundRect">
            <a:avLst>
              <a:gd name="adj" fmla="val 29097"/>
            </a:avLst>
          </a:prstGeom>
          <a:solidFill>
            <a:srgbClr val="0A081B">
              <a:alpha val="75000"/>
            </a:srgbClr>
          </a:solidFill>
          <a:ln w="12700">
            <a:solidFill>
              <a:srgbClr val="091231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248442" y="5443637"/>
            <a:ext cx="508562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校园项目运营</a:t>
            </a:r>
            <a:endParaRPr lang="zh-CN" sz="950" dirty="0"/>
          </a:p>
        </p:txBody>
      </p:sp>
      <p:sp>
        <p:nvSpPr>
          <p:cNvPr id="23" name="Text 18"/>
          <p:cNvSpPr/>
          <p:nvPr/>
        </p:nvSpPr>
        <p:spPr>
          <a:xfrm>
            <a:off x="6248442" y="5632549"/>
            <a:ext cx="5085627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【待补真实证据】校园项目运营负责人</a:t>
            </a:r>
            <a:endParaRPr lang="zh-CN" sz="850" dirty="0"/>
          </a:p>
        </p:txBody>
      </p:sp>
      <p:sp>
        <p:nvSpPr>
          <p:cNvPr id="24" name="Shape 19"/>
          <p:cNvSpPr/>
          <p:nvPr/>
        </p:nvSpPr>
        <p:spPr>
          <a:xfrm>
            <a:off x="734200" y="5957193"/>
            <a:ext cx="10723294" cy="301823"/>
          </a:xfrm>
          <a:prstGeom prst="roundRect">
            <a:avLst>
              <a:gd name="adj" fmla="val 49999"/>
            </a:avLst>
          </a:prstGeom>
          <a:solidFill>
            <a:srgbClr val="4B3F0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26" y="6043315"/>
            <a:ext cx="138407" cy="1107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4058" y="6043315"/>
            <a:ext cx="10862296" cy="135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zh-CN" altLang="en-US" sz="8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不得使用虚构头像、名校或大厂背景。创始人及核心成员信息【待补真实姓名、学校、专业、经历、实际贡献、作品和证书】。指导教师或顾问【待补真实姓名、单位、职称及指导证明】。</a:t>
            </a:r>
            <a:endParaRPr lang="zh-CN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642243"/>
            <a:ext cx="6151409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下一步：用四类真实证据跨过商业化门槛</a:t>
            </a:r>
            <a:endParaRPr lang="zh-CN" sz="1600" dirty="0"/>
          </a:p>
        </p:txBody>
      </p:sp>
      <p:sp>
        <p:nvSpPr>
          <p:cNvPr id="4" name="Text 1"/>
          <p:cNvSpPr/>
          <p:nvPr/>
        </p:nvSpPr>
        <p:spPr>
          <a:xfrm>
            <a:off x="5306086" y="956667"/>
            <a:ext cx="6760993" cy="10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愿景：从轮滑切入，构建可拓展至</a:t>
            </a:r>
            <a:pPr algn="l" indent="0" marL="0">
              <a:lnSpc>
                <a:spcPct val="96000"/>
              </a:lnSpc>
              <a:buNone/>
            </a:pPr>
            <a:r>
              <a:rPr lang="zh-CN" alt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滑板、滑冰、滑雪</a:t>
            </a:r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的滑行运动数字体育基础设施。</a:t>
            </a:r>
            <a:endParaRPr lang="zh-CN" sz="700" dirty="0"/>
          </a:p>
        </p:txBody>
      </p:sp>
      <p:sp>
        <p:nvSpPr>
          <p:cNvPr id="5" name="Shape 2"/>
          <p:cNvSpPr/>
          <p:nvPr/>
        </p:nvSpPr>
        <p:spPr>
          <a:xfrm>
            <a:off x="5306086" y="1106785"/>
            <a:ext cx="6151409" cy="928787"/>
          </a:xfrm>
          <a:prstGeom prst="roundRect">
            <a:avLst>
              <a:gd name="adj" fmla="val 14797"/>
            </a:avLst>
          </a:prstGeom>
          <a:solidFill>
            <a:srgbClr val="0A081B"/>
          </a:solidFill>
          <a:ln w="635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4012" y="1204714"/>
            <a:ext cx="5955556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① 技术可信</a:t>
            </a:r>
            <a:endParaRPr lang="zh-CN" sz="800" dirty="0"/>
          </a:p>
        </p:txBody>
      </p:sp>
      <p:sp>
        <p:nvSpPr>
          <p:cNvPr id="7" name="Text 4"/>
          <p:cNvSpPr/>
          <p:nvPr/>
        </p:nvSpPr>
        <p:spPr>
          <a:xfrm>
            <a:off x="5404012" y="1355824"/>
            <a:ext cx="5955556" cy="581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独立真值建立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5—8个核心动作评测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复杂场景评测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低置信度拒绝机制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第三方验证</a:t>
            </a:r>
            <a:endParaRPr lang="zh-CN" sz="700" dirty="0"/>
          </a:p>
        </p:txBody>
      </p:sp>
      <p:sp>
        <p:nvSpPr>
          <p:cNvPr id="8" name="Shape 5"/>
          <p:cNvSpPr/>
          <p:nvPr/>
        </p:nvSpPr>
        <p:spPr>
          <a:xfrm>
            <a:off x="5306086" y="2075557"/>
            <a:ext cx="6151409" cy="809625"/>
          </a:xfrm>
          <a:prstGeom prst="roundRect">
            <a:avLst>
              <a:gd name="adj" fmla="val 16975"/>
            </a:avLst>
          </a:prstGeom>
          <a:solidFill>
            <a:srgbClr val="0A081B"/>
          </a:solidFill>
          <a:ln w="635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4012" y="2173486"/>
            <a:ext cx="5955556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29DDDA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② 产品可用</a:t>
            </a:r>
            <a:endParaRPr lang="zh-CN" sz="800" dirty="0"/>
          </a:p>
        </p:txBody>
      </p:sp>
      <p:sp>
        <p:nvSpPr>
          <p:cNvPr id="10" name="Text 7"/>
          <p:cNvSpPr/>
          <p:nvPr/>
        </p:nvSpPr>
        <p:spPr>
          <a:xfrm>
            <a:off x="5404012" y="2324596"/>
            <a:ext cx="5955556" cy="462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机构多机位V1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校园MVP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C端单摄Beta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10—20个3D教学单元</a:t>
            </a:r>
            <a:endParaRPr lang="zh-CN" sz="700" dirty="0"/>
          </a:p>
        </p:txBody>
      </p:sp>
      <p:sp>
        <p:nvSpPr>
          <p:cNvPr id="11" name="Shape 8"/>
          <p:cNvSpPr/>
          <p:nvPr/>
        </p:nvSpPr>
        <p:spPr>
          <a:xfrm>
            <a:off x="5306086" y="2925167"/>
            <a:ext cx="6151409" cy="809625"/>
          </a:xfrm>
          <a:prstGeom prst="roundRect">
            <a:avLst>
              <a:gd name="adj" fmla="val 16975"/>
            </a:avLst>
          </a:prstGeom>
          <a:solidFill>
            <a:srgbClr val="0A081B"/>
          </a:solidFill>
          <a:ln w="635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4012" y="3023096"/>
            <a:ext cx="5955556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37A7E7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③ 融合成立</a:t>
            </a:r>
            <a:endParaRPr lang="zh-CN" sz="800" dirty="0"/>
          </a:p>
        </p:txBody>
      </p:sp>
      <p:sp>
        <p:nvSpPr>
          <p:cNvPr id="13" name="Text 10"/>
          <p:cNvSpPr/>
          <p:nvPr/>
        </p:nvSpPr>
        <p:spPr>
          <a:xfrm>
            <a:off x="5404012" y="3174206"/>
            <a:ext cx="5955556" cy="462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1,000—3,000段同步视觉—传感器数据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快拆样机50—100台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自动标签系统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传感器学生模型V1</a:t>
            </a:r>
            <a:endParaRPr lang="zh-CN" sz="700" dirty="0"/>
          </a:p>
        </p:txBody>
      </p:sp>
      <p:sp>
        <p:nvSpPr>
          <p:cNvPr id="14" name="Shape 11"/>
          <p:cNvSpPr/>
          <p:nvPr/>
        </p:nvSpPr>
        <p:spPr>
          <a:xfrm>
            <a:off x="5306086" y="3774777"/>
            <a:ext cx="6151409" cy="809625"/>
          </a:xfrm>
          <a:prstGeom prst="roundRect">
            <a:avLst>
              <a:gd name="adj" fmla="val 16975"/>
            </a:avLst>
          </a:prstGeom>
          <a:solidFill>
            <a:srgbClr val="0A081B"/>
          </a:solidFill>
          <a:ln w="6350">
            <a:solidFill>
              <a:srgbClr val="0912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04012" y="3872706"/>
            <a:ext cx="5955556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16FFBB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④ 商业验证</a:t>
            </a:r>
            <a:endParaRPr lang="zh-CN" sz="800" dirty="0"/>
          </a:p>
        </p:txBody>
      </p:sp>
      <p:sp>
        <p:nvSpPr>
          <p:cNvPr id="16" name="Text 13"/>
          <p:cNvSpPr/>
          <p:nvPr/>
        </p:nvSpPr>
        <p:spPr>
          <a:xfrm>
            <a:off x="5404012" y="4023816"/>
            <a:ext cx="5955556" cy="4626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1—3所学校试点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5—10家机构试点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3—5个真实付费客户</a:t>
            </a:r>
            <a:endParaRPr lang="zh-CN" sz="700" dirty="0"/>
          </a:p>
          <a:p>
            <a:pPr algn="l" marL="142240" indent="-142240">
              <a:lnSpc>
                <a:spcPct val="96000"/>
              </a:lnSpc>
              <a:buSzPct val="100000"/>
              <a:buChar char="•"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50—150万元合同收入</a:t>
            </a:r>
            <a:endParaRPr lang="zh-CN" sz="700" dirty="0"/>
          </a:p>
        </p:txBody>
      </p:sp>
      <p:sp>
        <p:nvSpPr>
          <p:cNvPr id="17" name="Text 14"/>
          <p:cNvSpPr/>
          <p:nvPr/>
        </p:nvSpPr>
        <p:spPr>
          <a:xfrm>
            <a:off x="5306086" y="4669334"/>
            <a:ext cx="2963987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当前寻求</a:t>
            </a:r>
            <a:endParaRPr lang="zh-CN" sz="8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086" y="4841478"/>
            <a:ext cx="228991" cy="22899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585082" y="4841478"/>
            <a:ext cx="2684991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试点学校与培训机构</a:t>
            </a:r>
            <a:endParaRPr lang="zh-CN" sz="800" dirty="0"/>
          </a:p>
        </p:txBody>
      </p:sp>
      <p:sp>
        <p:nvSpPr>
          <p:cNvPr id="20" name="Text 16"/>
          <p:cNvSpPr/>
          <p:nvPr/>
        </p:nvSpPr>
        <p:spPr>
          <a:xfrm>
            <a:off x="5585082" y="5008662"/>
            <a:ext cx="2684991" cy="10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有固定场地、稳定课时、愿意配合验证</a:t>
            </a:r>
            <a:endParaRPr lang="zh-CN" sz="7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6086" y="5193804"/>
            <a:ext cx="228991" cy="22899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585082" y="5193804"/>
            <a:ext cx="2684991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核心成员与导师</a:t>
            </a:r>
            <a:endParaRPr lang="zh-CN" sz="800" dirty="0"/>
          </a:p>
        </p:txBody>
      </p:sp>
      <p:sp>
        <p:nvSpPr>
          <p:cNvPr id="23" name="Text 18"/>
          <p:cNvSpPr/>
          <p:nvPr/>
        </p:nvSpPr>
        <p:spPr>
          <a:xfrm>
            <a:off x="5585082" y="5360987"/>
            <a:ext cx="2684991" cy="10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三维视觉、多模态、生物力学、硬件方向</a:t>
            </a:r>
            <a:endParaRPr lang="zh-CN" sz="7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06086" y="5546130"/>
            <a:ext cx="228991" cy="22899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85082" y="5546130"/>
            <a:ext cx="2684991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验证条件</a:t>
            </a:r>
            <a:endParaRPr lang="zh-CN" sz="800" dirty="0"/>
          </a:p>
        </p:txBody>
      </p:sp>
      <p:sp>
        <p:nvSpPr>
          <p:cNvPr id="26" name="Text 20"/>
          <p:cNvSpPr/>
          <p:nvPr/>
        </p:nvSpPr>
        <p:spPr>
          <a:xfrm>
            <a:off x="5585082" y="5713313"/>
            <a:ext cx="2684991" cy="10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动捕、测力、肌电等专业验证设备</a:t>
            </a:r>
            <a:endParaRPr lang="zh-CN" sz="7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06086" y="5898455"/>
            <a:ext cx="228991" cy="22899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85082" y="5898455"/>
            <a:ext cx="2684991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400万元种子或天使资金</a:t>
            </a:r>
            <a:endParaRPr lang="zh-CN" sz="800" dirty="0"/>
          </a:p>
        </p:txBody>
      </p:sp>
      <p:sp>
        <p:nvSpPr>
          <p:cNvPr id="29" name="Text 22"/>
          <p:cNvSpPr/>
          <p:nvPr/>
        </p:nvSpPr>
        <p:spPr>
          <a:xfrm>
            <a:off x="5585082" y="6065639"/>
            <a:ext cx="2684991" cy="10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及产业合作伙伴</a:t>
            </a:r>
            <a:endParaRPr lang="zh-CN" sz="700" dirty="0"/>
          </a:p>
        </p:txBody>
      </p:sp>
      <p:sp>
        <p:nvSpPr>
          <p:cNvPr id="30" name="Shape 23"/>
          <p:cNvSpPr/>
          <p:nvPr/>
        </p:nvSpPr>
        <p:spPr>
          <a:xfrm>
            <a:off x="8433879" y="4629348"/>
            <a:ext cx="3095944" cy="1586409"/>
          </a:xfrm>
          <a:prstGeom prst="roundRect">
            <a:avLst>
              <a:gd name="adj" fmla="val 13861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8525455" y="4669334"/>
            <a:ext cx="2912791" cy="127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zh-CN" altLang="en-US" sz="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真实性承诺</a:t>
            </a:r>
            <a:endParaRPr lang="zh-CN" sz="800" dirty="0"/>
          </a:p>
        </p:txBody>
      </p:sp>
      <p:sp>
        <p:nvSpPr>
          <p:cNvPr id="32" name="Text 25"/>
          <p:cNvSpPr/>
          <p:nvPr/>
        </p:nvSpPr>
        <p:spPr>
          <a:xfrm>
            <a:off x="8525455" y="4836517"/>
            <a:ext cx="2912791" cy="246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spcAft>
                <a:spcPts val="250"/>
              </a:spcAft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每个</a:t>
            </a:r>
            <a:pPr algn="l" indent="0" marL="0">
              <a:lnSpc>
                <a:spcPct val="96000"/>
              </a:lnSpc>
              <a:spcAft>
                <a:spcPts val="250"/>
              </a:spcAft>
              <a:buNone/>
            </a:pPr>
            <a:r>
              <a:rPr lang="zh-CN" alt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已实现、已合作、已投入、已申请、已验证</a:t>
            </a:r>
            <a:pPr algn="l" indent="0" marL="0">
              <a:lnSpc>
                <a:spcPct val="96000"/>
              </a:lnSpc>
              <a:spcAft>
                <a:spcPts val="250"/>
              </a:spcAft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都必须有附件证据。</a:t>
            </a:r>
            <a:endParaRPr lang="zh-CN" sz="700" dirty="0"/>
          </a:p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没有证明时统一标注：</a:t>
            </a:r>
            <a:pPr algn="l" indent="0" marL="0">
              <a:lnSpc>
                <a:spcPct val="96000"/>
              </a:lnSpc>
              <a:buNone/>
            </a:pPr>
            <a:r>
              <a:rPr lang="zh-CN" alt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在研 / 计划 / 目标 / 待验证</a:t>
            </a:r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。</a:t>
            </a:r>
            <a:endParaRPr lang="zh-CN" sz="700" dirty="0"/>
          </a:p>
        </p:txBody>
      </p:sp>
      <p:sp>
        <p:nvSpPr>
          <p:cNvPr id="33" name="Shape 26"/>
          <p:cNvSpPr/>
          <p:nvPr/>
        </p:nvSpPr>
        <p:spPr>
          <a:xfrm>
            <a:off x="8525455" y="5150545"/>
            <a:ext cx="2912791" cy="12700"/>
          </a:xfrm>
          <a:prstGeom prst="roundRect">
            <a:avLst>
              <a:gd name="adj" fmla="val 49999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8662870" y="5266928"/>
            <a:ext cx="2775377" cy="210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让每一节体育课</a:t>
            </a:r>
            <a:endParaRPr lang="zh-CN" sz="700" dirty="0"/>
          </a:p>
          <a:p>
            <a:pPr algn="l" indent="0" marL="0">
              <a:lnSpc>
                <a:spcPct val="96000"/>
              </a:lnSpc>
              <a:buNone/>
            </a:pPr>
            <a:r>
              <a:rPr lang="zh-CN" altLang="en-US" sz="7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可教、可练、可评、可追踪。</a:t>
            </a:r>
            <a:endParaRPr lang="zh-CN" sz="700" dirty="0"/>
          </a:p>
        </p:txBody>
      </p:sp>
      <p:sp>
        <p:nvSpPr>
          <p:cNvPr id="35" name="Shape 28"/>
          <p:cNvSpPr/>
          <p:nvPr/>
        </p:nvSpPr>
        <p:spPr>
          <a:xfrm>
            <a:off x="8525455" y="5231011"/>
            <a:ext cx="12700" cy="282178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2026-09-03T10:23:17Z</dcterms:created>
  <dcterms:modified xsi:type="dcterms:W3CDTF">2026-09-03T10:23:17Z</dcterms:modified>
</cp:coreProperties>
</file>